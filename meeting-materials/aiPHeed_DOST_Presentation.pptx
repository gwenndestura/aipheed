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DESTURA (leads intro): Magandang araw po, ARD Barquilla! Ako po si Princess Gwenn Destura, kasama sina Christina Esico at Angel Vhea Melindo, DLSU-Dasmariñas BS CS Intelligence Systems, sa ilalim ni Dr. Rolando Barrameda. Anim na bagay ang gusto naming ma-cover ngayon: ang problemang sinasagot namin, maikling teknikal na background, ang live demo, ang inyong papel bilang DOST Evaluator kasama ang draft ng post-testing questionnaire, ang aming datos, at panghuli, mga karagdagang tanong — kapwa galing sa amin at sa inyo. ESICO delivers the problem statistics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agenda check. Note this is the v3 flow: a short technical background comes right after the intro, then the demo, then DOST's role/questionnaire, then data/annotation, then More Questions (pre-interview + DOST's own questions + close) — matching the updated script exactly.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ESICO (delivers the problem stats): 44% ng households noong 2023 ang moderate-to-severe food insecure, 237,800 katao sa Region IV-A ang hindi pa rin naaabot ng sapat na pagkain. Every 2-3 years lang lumalabas ang opisyal na survey — malaking response lag.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MELINDO (leads this segment): Bago ang live demo, maikling technical background muna. Dalawang klase ng datos: news (17,791 articles) at government indicators (~2,732 datasets), dumadaan sa NLP feature engineering, kino-classify ng LightGBM + SHAP, at lumalabas sa geospatial dashboard. Tumatakbo automatic kada quarter, pero may mandatory human review bago mag-publish — dito papasok ang papel ng DOST Evaluator, ipapakita pagkatapos ng demo. Hands off to Destura for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DESTURA (leads demo, narrates throughout) says the mock-data disclaimer explicitly before Melindo touches anything: 'ang mga numero at forecast na makikita ninyo ay mock/placeholder data pa lang, hindi pa naka-integrate ang trained model sa live dashboard.' Then SWITCH TO SCREEN SHARE — MELINDO operates the screen share (non-verbal) while Destura narrates (~9 min): landing, login, map + quarter slider, municipal rankings, SHAP panel, alert banner, what-if sandbox, PDF export, data page, admin review workflow. Return to slides after — next is the use case diagram (Segment 04), led by Esico.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ESICO (leads this segment): Ngayon na po nakita niyo kung paano gumagana ang system sa demo, ipapakita po namin kung paano ito nakaugnay sa inyong magiging tungkulin. Ito po ang use case diagram mula sa aming manuscript. Ang DOST Region IV-A Evaluator ang main validating authority — views province forecasts, municipal rankings, SHAP explanations, alerts, forecast history. Kaya ito ang una naming hihilingin — pormal na validation partnership, consistent sa DOST A.O. No. 002 s. 1989.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ESICO (leads this segment): Ipinadala at ipapakita rin namin ang draft ng post-testing questionnaire — 7 sections, mula consent hanggang open-ended. Gusto namin markahan niyo kung may kulang o hindi malinaw. Kailangan namin ng ~30 DOST staff na sasagot pagkatapos ng demo/pilot. Walang atrasadong pre-survey — ang Segment 06 (More Questions) na po mismo ang aming pre-testing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MELINDO (leads this segment): Dalawang klase ng datos — news at gov't indicators, publicly available lahat, at REAL na datos — ito po ang ginamit para sanayin ang model offline. Iba ito sa mock data na nakita sa demo, na display lang habang hindi pa naka-integrate ang model sa live dashboard. Halimbawa ng labeling task — ang artikulo tungkol sa presyo ng bigas sa Batangas, ita-tag bilang market issues at climate events. Hihingi kami ng expert validator na tutulong mag-verify ng sample ng training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DESTURA (leads Ending, sole speaker for this segment): Dahil itong meeting na ito ang aming kapalit sa pre-survey, gusto naming marinig mula sa inyo: kasalukuyang tools/practices, gustong features, tunay na pangangailangan, at kung sino ang magiging araw-araw na user. Pause and take notes — this is the study's substitute for a pre-survey. Then open the floor for DOST's own questions before moving to closing.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DESTURA: Susunod, ipapadala namin ang huling bersyon ng post-testing form matapos ang inyong review sa draft. Kokoordinate din kami tungkol sa expert validator. Follow-up email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DESTURA: Maraming salamat po sa oras. Susunod, ipapadala namin ang post-testing form at questionnaire feedback loop. Follow-up email within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2.png"/><Relationship Id="rId5" Type="http://schemas.openxmlformats.org/officeDocument/2006/relationships/image" Target="../media/image-4-5.png"/><Relationship Id="rId6" Type="http://schemas.openxmlformats.org/officeDocument/2006/relationships/image" Target="../media/image-4-2.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slideLayout" Target="../slideLayouts/slideLayout1.xml"/><Relationship Id="rId6"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8778240" y="-2194560"/>
            <a:ext cx="5943600" cy="5943600"/>
          </a:xfrm>
          <a:prstGeom prst="ellipse">
            <a:avLst/>
          </a:prstGeom>
          <a:solidFill>
            <a:srgbClr val="16294A"/>
          </a:solidFill>
          <a:ln/>
        </p:spPr>
      </p:sp>
      <p:sp>
        <p:nvSpPr>
          <p:cNvPr id="3" name="Shape 1"/>
          <p:cNvSpPr/>
          <p:nvPr/>
        </p:nvSpPr>
        <p:spPr>
          <a:xfrm>
            <a:off x="10332720" y="3931920"/>
            <a:ext cx="3840480" cy="3840480"/>
          </a:xfrm>
          <a:prstGeom prst="ellipse">
            <a:avLst/>
          </a:prstGeom>
          <a:solidFill>
            <a:srgbClr val="0F7B6C">
              <a:alpha val="22000"/>
            </a:srgbClr>
          </a:solidFill>
          <a:ln/>
        </p:spPr>
      </p:sp>
      <p:sp>
        <p:nvSpPr>
          <p:cNvPr id="4" name="Shape 2"/>
          <p:cNvSpPr/>
          <p:nvPr/>
        </p:nvSpPr>
        <p:spPr>
          <a:xfrm>
            <a:off x="-1463040" y="5120640"/>
            <a:ext cx="3657600" cy="3657600"/>
          </a:xfrm>
          <a:prstGeom prst="ellipse">
            <a:avLst/>
          </a:prstGeom>
          <a:solidFill>
            <a:srgbClr val="B7862C">
              <a:alpha val="18000"/>
            </a:srgbClr>
          </a:solidFill>
          <a:ln/>
        </p:spPr>
      </p:sp>
      <p:sp>
        <p:nvSpPr>
          <p:cNvPr id="5" name="Text 3"/>
          <p:cNvSpPr/>
          <p:nvPr/>
        </p:nvSpPr>
        <p:spPr>
          <a:xfrm>
            <a:off x="822960" y="1051560"/>
            <a:ext cx="7315200" cy="365760"/>
          </a:xfrm>
          <a:prstGeom prst="rect">
            <a:avLst/>
          </a:prstGeom>
          <a:noFill/>
          <a:ln/>
        </p:spPr>
        <p:txBody>
          <a:bodyPr wrap="square" rtlCol="0" anchor="ctr"/>
          <a:lstStyle/>
          <a:p>
            <a:pPr indent="0" marL="0">
              <a:buNone/>
            </a:pPr>
            <a:r>
              <a:rPr lang="en-US" sz="1400" b="1" spc="300" kern="0" dirty="0">
                <a:solidFill>
                  <a:srgbClr val="B7862C"/>
                </a:solidFill>
                <a:latin typeface="Calibri" pitchFamily="34" charset="0"/>
                <a:ea typeface="Calibri" pitchFamily="34" charset="-122"/>
                <a:cs typeface="Calibri" pitchFamily="34" charset="-120"/>
              </a:rPr>
              <a:t>DOST REGION IV-A  ·  VALIDATION MEETING</a:t>
            </a:r>
            <a:endParaRPr lang="en-US" sz="1400" dirty="0"/>
          </a:p>
        </p:txBody>
      </p:sp>
      <p:sp>
        <p:nvSpPr>
          <p:cNvPr id="6" name="Text 4"/>
          <p:cNvSpPr/>
          <p:nvPr/>
        </p:nvSpPr>
        <p:spPr>
          <a:xfrm>
            <a:off x="777240" y="1417320"/>
            <a:ext cx="8229600" cy="1371600"/>
          </a:xfrm>
          <a:prstGeom prst="rect">
            <a:avLst/>
          </a:prstGeom>
          <a:noFill/>
          <a:ln/>
        </p:spPr>
        <p:txBody>
          <a:bodyPr wrap="square" rtlCol="0" anchor="ctr"/>
          <a:lstStyle/>
          <a:p>
            <a:pPr indent="0" marL="0">
              <a:buNone/>
            </a:pPr>
            <a:r>
              <a:rPr lang="en-US" sz="6600" b="1" dirty="0">
                <a:solidFill>
                  <a:srgbClr val="FFFFFF"/>
                </a:solidFill>
                <a:latin typeface="Cambria" pitchFamily="34" charset="0"/>
                <a:ea typeface="Cambria" pitchFamily="34" charset="-122"/>
                <a:cs typeface="Cambria" pitchFamily="34" charset="-120"/>
              </a:rPr>
              <a:t>aiPHeed</a:t>
            </a:r>
            <a:endParaRPr lang="en-US" sz="6600" dirty="0"/>
          </a:p>
        </p:txBody>
      </p:sp>
      <p:sp>
        <p:nvSpPr>
          <p:cNvPr id="7" name="Text 5"/>
          <p:cNvSpPr/>
          <p:nvPr/>
        </p:nvSpPr>
        <p:spPr>
          <a:xfrm>
            <a:off x="822960" y="2697480"/>
            <a:ext cx="7863840" cy="914400"/>
          </a:xfrm>
          <a:prstGeom prst="rect">
            <a:avLst/>
          </a:prstGeom>
          <a:noFill/>
          <a:ln/>
        </p:spPr>
        <p:txBody>
          <a:bodyPr wrap="square" rtlCol="0" anchor="ctr"/>
          <a:lstStyle/>
          <a:p>
            <a:pPr indent="0" marL="0">
              <a:lnSpc>
                <a:spcPct val="125000"/>
              </a:lnSpc>
              <a:buNone/>
            </a:pPr>
            <a:r>
              <a:rPr lang="en-US" sz="1800" dirty="0">
                <a:solidFill>
                  <a:srgbClr val="CADCFC"/>
                </a:solidFill>
                <a:latin typeface="Calibri" pitchFamily="34" charset="0"/>
                <a:ea typeface="Calibri" pitchFamily="34" charset="-122"/>
                <a:cs typeface="Calibri" pitchFamily="34" charset="-120"/>
              </a:rPr>
              <a:t>A Geospatial Food Insecurity Forecasting System for CALABARZON,</a:t>
            </a:r>
            <a:endParaRPr lang="en-US" sz="1800" dirty="0"/>
          </a:p>
          <a:p>
            <a:pPr indent="0" marL="0">
              <a:lnSpc>
                <a:spcPct val="125000"/>
              </a:lnSpc>
              <a:buNone/>
            </a:pPr>
            <a:r>
              <a:rPr lang="en-US" sz="1800" dirty="0">
                <a:solidFill>
                  <a:srgbClr val="CADCFC"/>
                </a:solidFill>
                <a:latin typeface="Calibri" pitchFamily="34" charset="0"/>
                <a:ea typeface="Calibri" pitchFamily="34" charset="-122"/>
                <a:cs typeface="Calibri" pitchFamily="34" charset="-120"/>
              </a:rPr>
              <a:t>built with NLP and Machine Learning</a:t>
            </a:r>
            <a:endParaRPr lang="en-US" sz="1800" dirty="0"/>
          </a:p>
        </p:txBody>
      </p:sp>
      <p:sp>
        <p:nvSpPr>
          <p:cNvPr id="8" name="Shape 6"/>
          <p:cNvSpPr/>
          <p:nvPr/>
        </p:nvSpPr>
        <p:spPr>
          <a:xfrm>
            <a:off x="822960" y="3886200"/>
            <a:ext cx="7589520" cy="1783080"/>
          </a:xfrm>
          <a:prstGeom prst="roundRect">
            <a:avLst>
              <a:gd name="adj" fmla="val 4103"/>
            </a:avLst>
          </a:prstGeom>
          <a:solidFill>
            <a:srgbClr val="16294A"/>
          </a:solidFill>
          <a:ln w="12700">
            <a:solidFill>
              <a:srgbClr val="2A3E6B"/>
            </a:solidFill>
            <a:prstDash val="solid"/>
          </a:ln>
        </p:spPr>
      </p:sp>
      <p:sp>
        <p:nvSpPr>
          <p:cNvPr id="9" name="Text 7"/>
          <p:cNvSpPr/>
          <p:nvPr/>
        </p:nvSpPr>
        <p:spPr>
          <a:xfrm>
            <a:off x="1051560" y="4023360"/>
            <a:ext cx="7132320" cy="365760"/>
          </a:xfrm>
          <a:prstGeom prst="rect">
            <a:avLst/>
          </a:prstGeom>
          <a:noFill/>
          <a:ln/>
        </p:spPr>
        <p:txBody>
          <a:bodyPr wrap="square" rtlCol="0" anchor="ctr"/>
          <a:lstStyle/>
          <a:p>
            <a:pPr indent="0" marL="0">
              <a:buNone/>
            </a:pPr>
            <a:r>
              <a:rPr lang="en-US" sz="1300" dirty="0">
                <a:solidFill>
                  <a:srgbClr val="9AA5B8"/>
                </a:solidFill>
              </a:rPr>
              <a:t>Presented to  </a:t>
            </a:r>
            <a:pPr indent="0" marL="0">
              <a:buNone/>
            </a:pPr>
            <a:r>
              <a:rPr lang="en-US" sz="1500" b="1" dirty="0">
                <a:solidFill>
                  <a:srgbClr val="FFFFFF"/>
                </a:solidFill>
              </a:rPr>
              <a:t>Engr. Francisco R. Barquilla III</a:t>
            </a:r>
            <a:endParaRPr lang="en-US" sz="1300" dirty="0"/>
          </a:p>
        </p:txBody>
      </p:sp>
      <p:sp>
        <p:nvSpPr>
          <p:cNvPr id="10" name="Text 8"/>
          <p:cNvSpPr/>
          <p:nvPr/>
        </p:nvSpPr>
        <p:spPr>
          <a:xfrm>
            <a:off x="1051560" y="4343400"/>
            <a:ext cx="7132320" cy="320040"/>
          </a:xfrm>
          <a:prstGeom prst="rect">
            <a:avLst/>
          </a:prstGeom>
          <a:noFill/>
          <a:ln/>
        </p:spPr>
        <p:txBody>
          <a:bodyPr wrap="square" rtlCol="0" anchor="ctr"/>
          <a:lstStyle/>
          <a:p>
            <a:pPr indent="0" marL="0">
              <a:buNone/>
            </a:pPr>
            <a:r>
              <a:rPr lang="en-US" sz="1250" dirty="0">
                <a:solidFill>
                  <a:srgbClr val="B9C4DA"/>
                </a:solidFill>
                <a:latin typeface="Calibri" pitchFamily="34" charset="0"/>
                <a:ea typeface="Calibri" pitchFamily="34" charset="-122"/>
                <a:cs typeface="Calibri" pitchFamily="34" charset="-120"/>
              </a:rPr>
              <a:t>Assistant Regional Director, Technical Operations — DOST Region IV-A</a:t>
            </a:r>
            <a:endParaRPr lang="en-US" sz="1250" dirty="0"/>
          </a:p>
        </p:txBody>
      </p:sp>
      <p:sp>
        <p:nvSpPr>
          <p:cNvPr id="11" name="Text 9"/>
          <p:cNvSpPr/>
          <p:nvPr/>
        </p:nvSpPr>
        <p:spPr>
          <a:xfrm>
            <a:off x="1051560" y="4709160"/>
            <a:ext cx="7132320" cy="365760"/>
          </a:xfrm>
          <a:prstGeom prst="rect">
            <a:avLst/>
          </a:prstGeom>
          <a:noFill/>
          <a:ln/>
        </p:spPr>
        <p:txBody>
          <a:bodyPr wrap="square" rtlCol="0" anchor="ctr"/>
          <a:lstStyle/>
          <a:p>
            <a:pPr indent="0" marL="0">
              <a:buNone/>
            </a:pPr>
            <a:r>
              <a:rPr lang="en-US" sz="1300" dirty="0">
                <a:solidFill>
                  <a:srgbClr val="9AA5B8"/>
                </a:solidFill>
              </a:rPr>
              <a:t>Presented by  </a:t>
            </a:r>
            <a:pPr indent="0" marL="0">
              <a:buNone/>
            </a:pPr>
            <a:r>
              <a:rPr lang="en-US" sz="1350" b="1" dirty="0">
                <a:solidFill>
                  <a:srgbClr val="FFFFFF"/>
                </a:solidFill>
              </a:rPr>
              <a:t>Princess Gwenn A. Destura   ·   Christina M. Esico   ·   Angel Vhea P. Melindo</a:t>
            </a:r>
            <a:endParaRPr lang="en-US" sz="1300" dirty="0"/>
          </a:p>
        </p:txBody>
      </p:sp>
      <p:sp>
        <p:nvSpPr>
          <p:cNvPr id="12" name="Text 10"/>
          <p:cNvSpPr/>
          <p:nvPr/>
        </p:nvSpPr>
        <p:spPr>
          <a:xfrm>
            <a:off x="1051560" y="5029200"/>
            <a:ext cx="7132320" cy="274320"/>
          </a:xfrm>
          <a:prstGeom prst="rect">
            <a:avLst/>
          </a:prstGeom>
          <a:noFill/>
          <a:ln/>
        </p:spPr>
        <p:txBody>
          <a:bodyPr wrap="square" rtlCol="0" anchor="ctr"/>
          <a:lstStyle/>
          <a:p>
            <a:pPr indent="0" marL="0">
              <a:buNone/>
            </a:pPr>
            <a:r>
              <a:rPr lang="en-US" sz="1100" dirty="0">
                <a:solidFill>
                  <a:srgbClr val="8FA0C2"/>
                </a:solidFill>
                <a:latin typeface="Calibri" pitchFamily="34" charset="0"/>
                <a:ea typeface="Calibri" pitchFamily="34" charset="-122"/>
                <a:cs typeface="Calibri" pitchFamily="34" charset="-120"/>
              </a:rPr>
              <a:t>BS Computer Science (Intelligence Systems) — De La Salle University–Dasmariñas</a:t>
            </a:r>
            <a:endParaRPr lang="en-US" sz="1100" dirty="0"/>
          </a:p>
        </p:txBody>
      </p:sp>
      <p:sp>
        <p:nvSpPr>
          <p:cNvPr id="13" name="Text 11"/>
          <p:cNvSpPr/>
          <p:nvPr/>
        </p:nvSpPr>
        <p:spPr>
          <a:xfrm>
            <a:off x="1051560" y="5285232"/>
            <a:ext cx="7132320" cy="274320"/>
          </a:xfrm>
          <a:prstGeom prst="rect">
            <a:avLst/>
          </a:prstGeom>
          <a:noFill/>
          <a:ln/>
        </p:spPr>
        <p:txBody>
          <a:bodyPr wrap="square" rtlCol="0" anchor="ctr"/>
          <a:lstStyle/>
          <a:p>
            <a:pPr indent="0" marL="0">
              <a:buNone/>
            </a:pPr>
            <a:r>
              <a:rPr lang="en-US" sz="1100" dirty="0">
                <a:solidFill>
                  <a:srgbClr val="8FA0C2"/>
                </a:solidFill>
                <a:latin typeface="Calibri" pitchFamily="34" charset="0"/>
                <a:ea typeface="Calibri" pitchFamily="34" charset="-122"/>
                <a:cs typeface="Calibri" pitchFamily="34" charset="-120"/>
              </a:rPr>
              <a:t>Adviser: Dr. Rolando B. Barrameda</a:t>
            </a:r>
            <a:endParaRPr lang="en-US" sz="1100" dirty="0"/>
          </a:p>
        </p:txBody>
      </p:sp>
      <p:sp>
        <p:nvSpPr>
          <p:cNvPr id="14" name="Text 12"/>
          <p:cNvSpPr/>
          <p:nvPr/>
        </p:nvSpPr>
        <p:spPr>
          <a:xfrm>
            <a:off x="822960" y="6035040"/>
            <a:ext cx="5486400" cy="320040"/>
          </a:xfrm>
          <a:prstGeom prst="rect">
            <a:avLst/>
          </a:prstGeom>
          <a:noFill/>
          <a:ln/>
        </p:spPr>
        <p:txBody>
          <a:bodyPr wrap="square" rtlCol="0" anchor="ctr"/>
          <a:lstStyle/>
          <a:p>
            <a:pPr indent="0" marL="0">
              <a:buNone/>
            </a:pPr>
            <a:r>
              <a:rPr lang="en-US" sz="1200" dirty="0">
                <a:solidFill>
                  <a:srgbClr val="8FA0C2"/>
                </a:solidFill>
              </a:rPr>
              <a:t>Virtual meeting  ·  30 minutes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TODAY'S AGENDA</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3000" b="1" dirty="0">
                <a:solidFill>
                  <a:srgbClr val="1B1F27"/>
                </a:solidFill>
                <a:latin typeface="Cambria" pitchFamily="34" charset="0"/>
                <a:ea typeface="Cambria" pitchFamily="34" charset="-122"/>
                <a:cs typeface="Cambria" pitchFamily="34" charset="-120"/>
              </a:rPr>
              <a:t>Six priorities for the next 30 minutes</a:t>
            </a:r>
            <a:endParaRPr lang="en-US" sz="3000" dirty="0"/>
          </a:p>
        </p:txBody>
      </p:sp>
      <p:sp>
        <p:nvSpPr>
          <p:cNvPr id="4" name="Shape 2"/>
          <p:cNvSpPr/>
          <p:nvPr/>
        </p:nvSpPr>
        <p:spPr>
          <a:xfrm>
            <a:off x="640080" y="1783080"/>
            <a:ext cx="7772400" cy="731520"/>
          </a:xfrm>
          <a:prstGeom prst="roundRect">
            <a:avLst>
              <a:gd name="adj" fmla="val 7500"/>
            </a:avLst>
          </a:prstGeom>
          <a:solidFill>
            <a:srgbClr val="F5F7FA"/>
          </a:solidFill>
          <a:ln/>
        </p:spPr>
      </p:sp>
      <p:sp>
        <p:nvSpPr>
          <p:cNvPr id="5" name="Text 3"/>
          <p:cNvSpPr/>
          <p:nvPr/>
        </p:nvSpPr>
        <p:spPr>
          <a:xfrm>
            <a:off x="868680" y="1783080"/>
            <a:ext cx="822960" cy="731520"/>
          </a:xfrm>
          <a:prstGeom prst="rect">
            <a:avLst/>
          </a:prstGeom>
          <a:noFill/>
          <a:ln/>
        </p:spPr>
        <p:txBody>
          <a:bodyPr wrap="square" rtlCol="0" anchor="ctr"/>
          <a:lstStyle/>
          <a:p>
            <a:pPr indent="0" marL="0">
              <a:buNone/>
            </a:pPr>
            <a:r>
              <a:rPr lang="en-US" sz="1900" b="1" dirty="0">
                <a:solidFill>
                  <a:srgbClr val="B7862C"/>
                </a:solidFill>
                <a:latin typeface="Cambria" pitchFamily="34" charset="0"/>
                <a:ea typeface="Cambria" pitchFamily="34" charset="-122"/>
                <a:cs typeface="Cambria" pitchFamily="34" charset="-120"/>
              </a:rPr>
              <a:t>01</a:t>
            </a:r>
            <a:endParaRPr lang="en-US" sz="1900" dirty="0"/>
          </a:p>
        </p:txBody>
      </p:sp>
      <p:sp>
        <p:nvSpPr>
          <p:cNvPr id="6" name="Text 4"/>
          <p:cNvSpPr/>
          <p:nvPr/>
        </p:nvSpPr>
        <p:spPr>
          <a:xfrm>
            <a:off x="1691640" y="1783080"/>
            <a:ext cx="5394960" cy="731520"/>
          </a:xfrm>
          <a:prstGeom prst="rect">
            <a:avLst/>
          </a:prstGeom>
          <a:noFill/>
          <a:ln/>
        </p:spPr>
        <p:txBody>
          <a:bodyPr wrap="square" rtlCol="0" anchor="ctr"/>
          <a:lstStyle/>
          <a:p>
            <a:pPr indent="0" marL="0">
              <a:buNone/>
            </a:pPr>
            <a:r>
              <a:rPr lang="en-US" sz="1450" b="1" dirty="0">
                <a:solidFill>
                  <a:srgbClr val="1B1F27"/>
                </a:solidFill>
                <a:latin typeface="Calibri" pitchFamily="34" charset="0"/>
                <a:ea typeface="Calibri" pitchFamily="34" charset="-122"/>
                <a:cs typeface="Calibri" pitchFamily="34" charset="-120"/>
              </a:rPr>
              <a:t>Intro</a:t>
            </a:r>
            <a:endParaRPr lang="en-US" sz="1450" dirty="0"/>
          </a:p>
        </p:txBody>
      </p:sp>
      <p:sp>
        <p:nvSpPr>
          <p:cNvPr id="7" name="Text 5"/>
          <p:cNvSpPr/>
          <p:nvPr/>
        </p:nvSpPr>
        <p:spPr>
          <a:xfrm>
            <a:off x="7040880" y="1783080"/>
            <a:ext cx="1188720" cy="731520"/>
          </a:xfrm>
          <a:prstGeom prst="rect">
            <a:avLst/>
          </a:prstGeom>
          <a:noFill/>
          <a:ln/>
        </p:spPr>
        <p:txBody>
          <a:bodyPr wrap="square" rtlCol="0" anchor="ctr"/>
          <a:lstStyle/>
          <a:p>
            <a:pPr algn="r" indent="0" marL="0">
              <a:buNone/>
            </a:pPr>
            <a:r>
              <a:rPr lang="en-US" sz="1250" dirty="0">
                <a:solidFill>
                  <a:srgbClr val="5B6472"/>
                </a:solidFill>
                <a:latin typeface="Calibri" pitchFamily="34" charset="0"/>
                <a:ea typeface="Calibri" pitchFamily="34" charset="-122"/>
                <a:cs typeface="Calibri" pitchFamily="34" charset="-120"/>
              </a:rPr>
              <a:t>2 min</a:t>
            </a:r>
            <a:endParaRPr lang="en-US" sz="1250" dirty="0"/>
          </a:p>
        </p:txBody>
      </p:sp>
      <p:sp>
        <p:nvSpPr>
          <p:cNvPr id="8" name="Shape 6"/>
          <p:cNvSpPr/>
          <p:nvPr/>
        </p:nvSpPr>
        <p:spPr>
          <a:xfrm>
            <a:off x="640080" y="2569464"/>
            <a:ext cx="7772400" cy="731520"/>
          </a:xfrm>
          <a:prstGeom prst="roundRect">
            <a:avLst>
              <a:gd name="adj" fmla="val 7500"/>
            </a:avLst>
          </a:prstGeom>
          <a:solidFill>
            <a:srgbClr val="FFFFFF"/>
          </a:solidFill>
          <a:ln/>
        </p:spPr>
      </p:sp>
      <p:sp>
        <p:nvSpPr>
          <p:cNvPr id="9" name="Text 7"/>
          <p:cNvSpPr/>
          <p:nvPr/>
        </p:nvSpPr>
        <p:spPr>
          <a:xfrm>
            <a:off x="868680" y="2569464"/>
            <a:ext cx="822960" cy="731520"/>
          </a:xfrm>
          <a:prstGeom prst="rect">
            <a:avLst/>
          </a:prstGeom>
          <a:noFill/>
          <a:ln/>
        </p:spPr>
        <p:txBody>
          <a:bodyPr wrap="square" rtlCol="0" anchor="ctr"/>
          <a:lstStyle/>
          <a:p>
            <a:pPr indent="0" marL="0">
              <a:buNone/>
            </a:pPr>
            <a:r>
              <a:rPr lang="en-US" sz="1900" b="1" dirty="0">
                <a:solidFill>
                  <a:srgbClr val="B7862C"/>
                </a:solidFill>
                <a:latin typeface="Cambria" pitchFamily="34" charset="0"/>
                <a:ea typeface="Cambria" pitchFamily="34" charset="-122"/>
                <a:cs typeface="Cambria" pitchFamily="34" charset="-120"/>
              </a:rPr>
              <a:t>02</a:t>
            </a:r>
            <a:endParaRPr lang="en-US" sz="1900" dirty="0"/>
          </a:p>
        </p:txBody>
      </p:sp>
      <p:sp>
        <p:nvSpPr>
          <p:cNvPr id="10" name="Text 8"/>
          <p:cNvSpPr/>
          <p:nvPr/>
        </p:nvSpPr>
        <p:spPr>
          <a:xfrm>
            <a:off x="1691640" y="2569464"/>
            <a:ext cx="5394960" cy="731520"/>
          </a:xfrm>
          <a:prstGeom prst="rect">
            <a:avLst/>
          </a:prstGeom>
          <a:noFill/>
          <a:ln/>
        </p:spPr>
        <p:txBody>
          <a:bodyPr wrap="square" rtlCol="0" anchor="ctr"/>
          <a:lstStyle/>
          <a:p>
            <a:pPr indent="0" marL="0">
              <a:buNone/>
            </a:pPr>
            <a:r>
              <a:rPr lang="en-US" sz="1450" b="1" dirty="0">
                <a:solidFill>
                  <a:srgbClr val="1B1F27"/>
                </a:solidFill>
                <a:latin typeface="Calibri" pitchFamily="34" charset="0"/>
                <a:ea typeface="Calibri" pitchFamily="34" charset="-122"/>
                <a:cs typeface="Calibri" pitchFamily="34" charset="-120"/>
              </a:rPr>
              <a:t>Short Technical Background</a:t>
            </a:r>
            <a:endParaRPr lang="en-US" sz="1450" dirty="0"/>
          </a:p>
        </p:txBody>
      </p:sp>
      <p:sp>
        <p:nvSpPr>
          <p:cNvPr id="11" name="Text 9"/>
          <p:cNvSpPr/>
          <p:nvPr/>
        </p:nvSpPr>
        <p:spPr>
          <a:xfrm>
            <a:off x="7040880" y="2569464"/>
            <a:ext cx="1188720" cy="731520"/>
          </a:xfrm>
          <a:prstGeom prst="rect">
            <a:avLst/>
          </a:prstGeom>
          <a:noFill/>
          <a:ln/>
        </p:spPr>
        <p:txBody>
          <a:bodyPr wrap="square" rtlCol="0" anchor="ctr"/>
          <a:lstStyle/>
          <a:p>
            <a:pPr algn="r" indent="0" marL="0">
              <a:buNone/>
            </a:pPr>
            <a:r>
              <a:rPr lang="en-US" sz="1250" dirty="0">
                <a:solidFill>
                  <a:srgbClr val="5B6472"/>
                </a:solidFill>
                <a:latin typeface="Calibri" pitchFamily="34" charset="0"/>
                <a:ea typeface="Calibri" pitchFamily="34" charset="-122"/>
                <a:cs typeface="Calibri" pitchFamily="34" charset="-120"/>
              </a:rPr>
              <a:t>3 min</a:t>
            </a:r>
            <a:endParaRPr lang="en-US" sz="1250" dirty="0"/>
          </a:p>
        </p:txBody>
      </p:sp>
      <p:sp>
        <p:nvSpPr>
          <p:cNvPr id="12" name="Shape 10"/>
          <p:cNvSpPr/>
          <p:nvPr/>
        </p:nvSpPr>
        <p:spPr>
          <a:xfrm>
            <a:off x="640080" y="3355848"/>
            <a:ext cx="7772400" cy="731520"/>
          </a:xfrm>
          <a:prstGeom prst="roundRect">
            <a:avLst>
              <a:gd name="adj" fmla="val 7500"/>
            </a:avLst>
          </a:prstGeom>
          <a:solidFill>
            <a:srgbClr val="F5F7FA"/>
          </a:solidFill>
          <a:ln/>
        </p:spPr>
      </p:sp>
      <p:sp>
        <p:nvSpPr>
          <p:cNvPr id="13" name="Text 11"/>
          <p:cNvSpPr/>
          <p:nvPr/>
        </p:nvSpPr>
        <p:spPr>
          <a:xfrm>
            <a:off x="868680" y="3355848"/>
            <a:ext cx="822960" cy="731520"/>
          </a:xfrm>
          <a:prstGeom prst="rect">
            <a:avLst/>
          </a:prstGeom>
          <a:noFill/>
          <a:ln/>
        </p:spPr>
        <p:txBody>
          <a:bodyPr wrap="square" rtlCol="0" anchor="ctr"/>
          <a:lstStyle/>
          <a:p>
            <a:pPr indent="0" marL="0">
              <a:buNone/>
            </a:pPr>
            <a:r>
              <a:rPr lang="en-US" sz="1900" b="1" dirty="0">
                <a:solidFill>
                  <a:srgbClr val="B7862C"/>
                </a:solidFill>
                <a:latin typeface="Cambria" pitchFamily="34" charset="0"/>
                <a:ea typeface="Cambria" pitchFamily="34" charset="-122"/>
                <a:cs typeface="Cambria" pitchFamily="34" charset="-120"/>
              </a:rPr>
              <a:t>03</a:t>
            </a:r>
            <a:endParaRPr lang="en-US" sz="1900" dirty="0"/>
          </a:p>
        </p:txBody>
      </p:sp>
      <p:sp>
        <p:nvSpPr>
          <p:cNvPr id="14" name="Text 12"/>
          <p:cNvSpPr/>
          <p:nvPr/>
        </p:nvSpPr>
        <p:spPr>
          <a:xfrm>
            <a:off x="1691640" y="3355848"/>
            <a:ext cx="5394960" cy="731520"/>
          </a:xfrm>
          <a:prstGeom prst="rect">
            <a:avLst/>
          </a:prstGeom>
          <a:noFill/>
          <a:ln/>
        </p:spPr>
        <p:txBody>
          <a:bodyPr wrap="square" rtlCol="0" anchor="ctr"/>
          <a:lstStyle/>
          <a:p>
            <a:pPr indent="0" marL="0">
              <a:buNone/>
            </a:pPr>
            <a:r>
              <a:rPr lang="en-US" sz="1450" b="1" dirty="0">
                <a:solidFill>
                  <a:srgbClr val="1B1F27"/>
                </a:solidFill>
                <a:latin typeface="Calibri" pitchFamily="34" charset="0"/>
                <a:ea typeface="Calibri" pitchFamily="34" charset="-122"/>
                <a:cs typeface="Calibri" pitchFamily="34" charset="-120"/>
              </a:rPr>
              <a:t>Live System Demo</a:t>
            </a:r>
            <a:endParaRPr lang="en-US" sz="1450" dirty="0"/>
          </a:p>
        </p:txBody>
      </p:sp>
      <p:sp>
        <p:nvSpPr>
          <p:cNvPr id="15" name="Text 13"/>
          <p:cNvSpPr/>
          <p:nvPr/>
        </p:nvSpPr>
        <p:spPr>
          <a:xfrm>
            <a:off x="7040880" y="3355848"/>
            <a:ext cx="1188720" cy="731520"/>
          </a:xfrm>
          <a:prstGeom prst="rect">
            <a:avLst/>
          </a:prstGeom>
          <a:noFill/>
          <a:ln/>
        </p:spPr>
        <p:txBody>
          <a:bodyPr wrap="square" rtlCol="0" anchor="ctr"/>
          <a:lstStyle/>
          <a:p>
            <a:pPr algn="r" indent="0" marL="0">
              <a:buNone/>
            </a:pPr>
            <a:r>
              <a:rPr lang="en-US" sz="1250" dirty="0">
                <a:solidFill>
                  <a:srgbClr val="5B6472"/>
                </a:solidFill>
                <a:latin typeface="Calibri" pitchFamily="34" charset="0"/>
                <a:ea typeface="Calibri" pitchFamily="34" charset="-122"/>
                <a:cs typeface="Calibri" pitchFamily="34" charset="-120"/>
              </a:rPr>
              <a:t>9 min</a:t>
            </a:r>
            <a:endParaRPr lang="en-US" sz="1250" dirty="0"/>
          </a:p>
        </p:txBody>
      </p:sp>
      <p:sp>
        <p:nvSpPr>
          <p:cNvPr id="16" name="Shape 14"/>
          <p:cNvSpPr/>
          <p:nvPr/>
        </p:nvSpPr>
        <p:spPr>
          <a:xfrm>
            <a:off x="640080" y="4142232"/>
            <a:ext cx="7772400" cy="731520"/>
          </a:xfrm>
          <a:prstGeom prst="roundRect">
            <a:avLst>
              <a:gd name="adj" fmla="val 7500"/>
            </a:avLst>
          </a:prstGeom>
          <a:solidFill>
            <a:srgbClr val="FFFFFF"/>
          </a:solidFill>
          <a:ln/>
        </p:spPr>
      </p:sp>
      <p:sp>
        <p:nvSpPr>
          <p:cNvPr id="17" name="Text 15"/>
          <p:cNvSpPr/>
          <p:nvPr/>
        </p:nvSpPr>
        <p:spPr>
          <a:xfrm>
            <a:off x="868680" y="4142232"/>
            <a:ext cx="822960" cy="731520"/>
          </a:xfrm>
          <a:prstGeom prst="rect">
            <a:avLst/>
          </a:prstGeom>
          <a:noFill/>
          <a:ln/>
        </p:spPr>
        <p:txBody>
          <a:bodyPr wrap="square" rtlCol="0" anchor="ctr"/>
          <a:lstStyle/>
          <a:p>
            <a:pPr indent="0" marL="0">
              <a:buNone/>
            </a:pPr>
            <a:r>
              <a:rPr lang="en-US" sz="1900" b="1" dirty="0">
                <a:solidFill>
                  <a:srgbClr val="B7862C"/>
                </a:solidFill>
                <a:latin typeface="Cambria" pitchFamily="34" charset="0"/>
                <a:ea typeface="Cambria" pitchFamily="34" charset="-122"/>
                <a:cs typeface="Cambria" pitchFamily="34" charset="-120"/>
              </a:rPr>
              <a:t>04</a:t>
            </a:r>
            <a:endParaRPr lang="en-US" sz="1900" dirty="0"/>
          </a:p>
        </p:txBody>
      </p:sp>
      <p:sp>
        <p:nvSpPr>
          <p:cNvPr id="18" name="Text 16"/>
          <p:cNvSpPr/>
          <p:nvPr/>
        </p:nvSpPr>
        <p:spPr>
          <a:xfrm>
            <a:off x="1691640" y="4142232"/>
            <a:ext cx="5394960" cy="731520"/>
          </a:xfrm>
          <a:prstGeom prst="rect">
            <a:avLst/>
          </a:prstGeom>
          <a:noFill/>
          <a:ln/>
        </p:spPr>
        <p:txBody>
          <a:bodyPr wrap="square" rtlCol="0" anchor="ctr"/>
          <a:lstStyle/>
          <a:p>
            <a:pPr indent="0" marL="0">
              <a:buNone/>
            </a:pPr>
            <a:r>
              <a:rPr lang="en-US" sz="1450" b="1" dirty="0">
                <a:solidFill>
                  <a:srgbClr val="1B1F27"/>
                </a:solidFill>
                <a:latin typeface="Calibri" pitchFamily="34" charset="0"/>
                <a:ea typeface="Calibri" pitchFamily="34" charset="-122"/>
                <a:cs typeface="Calibri" pitchFamily="34" charset="-120"/>
              </a:rPr>
              <a:t>DOST's Role &amp; the Post-Testing Questionnaire</a:t>
            </a:r>
            <a:endParaRPr lang="en-US" sz="1450" dirty="0"/>
          </a:p>
        </p:txBody>
      </p:sp>
      <p:sp>
        <p:nvSpPr>
          <p:cNvPr id="19" name="Text 17"/>
          <p:cNvSpPr/>
          <p:nvPr/>
        </p:nvSpPr>
        <p:spPr>
          <a:xfrm>
            <a:off x="7040880" y="4142232"/>
            <a:ext cx="1188720" cy="731520"/>
          </a:xfrm>
          <a:prstGeom prst="rect">
            <a:avLst/>
          </a:prstGeom>
          <a:noFill/>
          <a:ln/>
        </p:spPr>
        <p:txBody>
          <a:bodyPr wrap="square" rtlCol="0" anchor="ctr"/>
          <a:lstStyle/>
          <a:p>
            <a:pPr algn="r" indent="0" marL="0">
              <a:buNone/>
            </a:pPr>
            <a:r>
              <a:rPr lang="en-US" sz="1250" dirty="0">
                <a:solidFill>
                  <a:srgbClr val="5B6472"/>
                </a:solidFill>
                <a:latin typeface="Calibri" pitchFamily="34" charset="0"/>
                <a:ea typeface="Calibri" pitchFamily="34" charset="-122"/>
                <a:cs typeface="Calibri" pitchFamily="34" charset="-120"/>
              </a:rPr>
              <a:t>7 min</a:t>
            </a:r>
            <a:endParaRPr lang="en-US" sz="1250" dirty="0"/>
          </a:p>
        </p:txBody>
      </p:sp>
      <p:sp>
        <p:nvSpPr>
          <p:cNvPr id="20" name="Shape 18"/>
          <p:cNvSpPr/>
          <p:nvPr/>
        </p:nvSpPr>
        <p:spPr>
          <a:xfrm>
            <a:off x="640080" y="4928616"/>
            <a:ext cx="7772400" cy="731520"/>
          </a:xfrm>
          <a:prstGeom prst="roundRect">
            <a:avLst>
              <a:gd name="adj" fmla="val 7500"/>
            </a:avLst>
          </a:prstGeom>
          <a:solidFill>
            <a:srgbClr val="F5F7FA"/>
          </a:solidFill>
          <a:ln/>
        </p:spPr>
      </p:sp>
      <p:sp>
        <p:nvSpPr>
          <p:cNvPr id="21" name="Text 19"/>
          <p:cNvSpPr/>
          <p:nvPr/>
        </p:nvSpPr>
        <p:spPr>
          <a:xfrm>
            <a:off x="868680" y="4928616"/>
            <a:ext cx="822960" cy="731520"/>
          </a:xfrm>
          <a:prstGeom prst="rect">
            <a:avLst/>
          </a:prstGeom>
          <a:noFill/>
          <a:ln/>
        </p:spPr>
        <p:txBody>
          <a:bodyPr wrap="square" rtlCol="0" anchor="ctr"/>
          <a:lstStyle/>
          <a:p>
            <a:pPr indent="0" marL="0">
              <a:buNone/>
            </a:pPr>
            <a:r>
              <a:rPr lang="en-US" sz="1900" b="1" dirty="0">
                <a:solidFill>
                  <a:srgbClr val="B7862C"/>
                </a:solidFill>
                <a:latin typeface="Cambria" pitchFamily="34" charset="0"/>
                <a:ea typeface="Cambria" pitchFamily="34" charset="-122"/>
                <a:cs typeface="Cambria" pitchFamily="34" charset="-120"/>
              </a:rPr>
              <a:t>05</a:t>
            </a:r>
            <a:endParaRPr lang="en-US" sz="1900" dirty="0"/>
          </a:p>
        </p:txBody>
      </p:sp>
      <p:sp>
        <p:nvSpPr>
          <p:cNvPr id="22" name="Text 20"/>
          <p:cNvSpPr/>
          <p:nvPr/>
        </p:nvSpPr>
        <p:spPr>
          <a:xfrm>
            <a:off x="1691640" y="4928616"/>
            <a:ext cx="5394960" cy="731520"/>
          </a:xfrm>
          <a:prstGeom prst="rect">
            <a:avLst/>
          </a:prstGeom>
          <a:noFill/>
          <a:ln/>
        </p:spPr>
        <p:txBody>
          <a:bodyPr wrap="square" rtlCol="0" anchor="ctr"/>
          <a:lstStyle/>
          <a:p>
            <a:pPr indent="0" marL="0">
              <a:buNone/>
            </a:pPr>
            <a:r>
              <a:rPr lang="en-US" sz="1450" b="1" dirty="0">
                <a:solidFill>
                  <a:srgbClr val="1B1F27"/>
                </a:solidFill>
                <a:latin typeface="Calibri" pitchFamily="34" charset="0"/>
                <a:ea typeface="Calibri" pitchFamily="34" charset="-122"/>
                <a:cs typeface="Calibri" pitchFamily="34" charset="-120"/>
              </a:rPr>
              <a:t>Data Walkthrough — Validation &amp; Annotation</a:t>
            </a:r>
            <a:endParaRPr lang="en-US" sz="1450" dirty="0"/>
          </a:p>
        </p:txBody>
      </p:sp>
      <p:sp>
        <p:nvSpPr>
          <p:cNvPr id="23" name="Text 21"/>
          <p:cNvSpPr/>
          <p:nvPr/>
        </p:nvSpPr>
        <p:spPr>
          <a:xfrm>
            <a:off x="7040880" y="4928616"/>
            <a:ext cx="1188720" cy="731520"/>
          </a:xfrm>
          <a:prstGeom prst="rect">
            <a:avLst/>
          </a:prstGeom>
          <a:noFill/>
          <a:ln/>
        </p:spPr>
        <p:txBody>
          <a:bodyPr wrap="square" rtlCol="0" anchor="ctr"/>
          <a:lstStyle/>
          <a:p>
            <a:pPr algn="r" indent="0" marL="0">
              <a:buNone/>
            </a:pPr>
            <a:r>
              <a:rPr lang="en-US" sz="1250" dirty="0">
                <a:solidFill>
                  <a:srgbClr val="5B6472"/>
                </a:solidFill>
                <a:latin typeface="Calibri" pitchFamily="34" charset="0"/>
                <a:ea typeface="Calibri" pitchFamily="34" charset="-122"/>
                <a:cs typeface="Calibri" pitchFamily="34" charset="-120"/>
              </a:rPr>
              <a:t>4 min</a:t>
            </a:r>
            <a:endParaRPr lang="en-US" sz="1250" dirty="0"/>
          </a:p>
        </p:txBody>
      </p:sp>
      <p:sp>
        <p:nvSpPr>
          <p:cNvPr id="24" name="Shape 22"/>
          <p:cNvSpPr/>
          <p:nvPr/>
        </p:nvSpPr>
        <p:spPr>
          <a:xfrm>
            <a:off x="640080" y="5715000"/>
            <a:ext cx="7772400" cy="731520"/>
          </a:xfrm>
          <a:prstGeom prst="roundRect">
            <a:avLst>
              <a:gd name="adj" fmla="val 7500"/>
            </a:avLst>
          </a:prstGeom>
          <a:solidFill>
            <a:srgbClr val="FFFFFF"/>
          </a:solidFill>
          <a:ln/>
        </p:spPr>
      </p:sp>
      <p:sp>
        <p:nvSpPr>
          <p:cNvPr id="25" name="Text 23"/>
          <p:cNvSpPr/>
          <p:nvPr/>
        </p:nvSpPr>
        <p:spPr>
          <a:xfrm>
            <a:off x="868680" y="5715000"/>
            <a:ext cx="822960" cy="731520"/>
          </a:xfrm>
          <a:prstGeom prst="rect">
            <a:avLst/>
          </a:prstGeom>
          <a:noFill/>
          <a:ln/>
        </p:spPr>
        <p:txBody>
          <a:bodyPr wrap="square" rtlCol="0" anchor="ctr"/>
          <a:lstStyle/>
          <a:p>
            <a:pPr indent="0" marL="0">
              <a:buNone/>
            </a:pPr>
            <a:r>
              <a:rPr lang="en-US" sz="1900" b="1" dirty="0">
                <a:solidFill>
                  <a:srgbClr val="B7862C"/>
                </a:solidFill>
                <a:latin typeface="Cambria" pitchFamily="34" charset="0"/>
                <a:ea typeface="Cambria" pitchFamily="34" charset="-122"/>
                <a:cs typeface="Cambria" pitchFamily="34" charset="-120"/>
              </a:rPr>
              <a:t>06</a:t>
            </a:r>
            <a:endParaRPr lang="en-US" sz="1900" dirty="0"/>
          </a:p>
        </p:txBody>
      </p:sp>
      <p:sp>
        <p:nvSpPr>
          <p:cNvPr id="26" name="Text 24"/>
          <p:cNvSpPr/>
          <p:nvPr/>
        </p:nvSpPr>
        <p:spPr>
          <a:xfrm>
            <a:off x="1691640" y="5715000"/>
            <a:ext cx="5394960" cy="731520"/>
          </a:xfrm>
          <a:prstGeom prst="rect">
            <a:avLst/>
          </a:prstGeom>
          <a:noFill/>
          <a:ln/>
        </p:spPr>
        <p:txBody>
          <a:bodyPr wrap="square" rtlCol="0" anchor="ctr"/>
          <a:lstStyle/>
          <a:p>
            <a:pPr indent="0" marL="0">
              <a:buNone/>
            </a:pPr>
            <a:r>
              <a:rPr lang="en-US" sz="1450" b="1" dirty="0">
                <a:solidFill>
                  <a:srgbClr val="1B1F27"/>
                </a:solidFill>
                <a:latin typeface="Calibri" pitchFamily="34" charset="0"/>
                <a:ea typeface="Calibri" pitchFamily="34" charset="-122"/>
                <a:cs typeface="Calibri" pitchFamily="34" charset="-120"/>
              </a:rPr>
              <a:t>More Questions</a:t>
            </a:r>
            <a:endParaRPr lang="en-US" sz="1450" dirty="0"/>
          </a:p>
        </p:txBody>
      </p:sp>
      <p:sp>
        <p:nvSpPr>
          <p:cNvPr id="27" name="Text 25"/>
          <p:cNvSpPr/>
          <p:nvPr/>
        </p:nvSpPr>
        <p:spPr>
          <a:xfrm>
            <a:off x="7040880" y="5715000"/>
            <a:ext cx="1188720" cy="731520"/>
          </a:xfrm>
          <a:prstGeom prst="rect">
            <a:avLst/>
          </a:prstGeom>
          <a:noFill/>
          <a:ln/>
        </p:spPr>
        <p:txBody>
          <a:bodyPr wrap="square" rtlCol="0" anchor="ctr"/>
          <a:lstStyle/>
          <a:p>
            <a:pPr algn="r" indent="0" marL="0">
              <a:buNone/>
            </a:pPr>
            <a:r>
              <a:rPr lang="en-US" sz="1250" dirty="0">
                <a:solidFill>
                  <a:srgbClr val="5B6472"/>
                </a:solidFill>
                <a:latin typeface="Calibri" pitchFamily="34" charset="0"/>
                <a:ea typeface="Calibri" pitchFamily="34" charset="-122"/>
                <a:cs typeface="Calibri" pitchFamily="34" charset="-120"/>
              </a:rPr>
              <a:t>5 min</a:t>
            </a:r>
            <a:endParaRPr lang="en-US" sz="1250" dirty="0"/>
          </a:p>
        </p:txBody>
      </p:sp>
      <p:sp>
        <p:nvSpPr>
          <p:cNvPr id="28" name="Shape 26"/>
          <p:cNvSpPr/>
          <p:nvPr/>
        </p:nvSpPr>
        <p:spPr>
          <a:xfrm>
            <a:off x="8778240" y="1783080"/>
            <a:ext cx="2788920" cy="4663440"/>
          </a:xfrm>
          <a:prstGeom prst="roundRect">
            <a:avLst>
              <a:gd name="adj" fmla="val 3279"/>
            </a:avLst>
          </a:prstGeom>
          <a:solidFill>
            <a:srgbClr val="1F3864"/>
          </a:solidFill>
          <a:ln/>
        </p:spPr>
      </p:sp>
      <p:sp>
        <p:nvSpPr>
          <p:cNvPr id="29" name="Shape 27"/>
          <p:cNvSpPr/>
          <p:nvPr/>
        </p:nvSpPr>
        <p:spPr>
          <a:xfrm>
            <a:off x="9098280" y="2084832"/>
            <a:ext cx="621792" cy="621792"/>
          </a:xfrm>
          <a:prstGeom prst="ellipse">
            <a:avLst/>
          </a:prstGeom>
          <a:solidFill>
            <a:srgbClr val="0F7B6C"/>
          </a:solidFill>
          <a:ln/>
        </p:spPr>
      </p:sp>
      <p:pic>
        <p:nvPicPr>
          <p:cNvPr id="30" name="Image 0" descr="/tmp/aipheed_pptx/icons/listChecksWhite.png">    </p:cNvPr>
          <p:cNvPicPr>
            <a:picLocks noChangeAspect="1"/>
          </p:cNvPicPr>
          <p:nvPr/>
        </p:nvPicPr>
        <p:blipFill>
          <a:blip r:embed="rId1"/>
          <a:stretch>
            <a:fillRect/>
          </a:stretch>
        </p:blipFill>
        <p:spPr>
          <a:xfrm>
            <a:off x="9235440" y="2221992"/>
            <a:ext cx="347472" cy="347472"/>
          </a:xfrm>
          <a:prstGeom prst="rect">
            <a:avLst/>
          </a:prstGeom>
        </p:spPr>
      </p:pic>
      <p:sp>
        <p:nvSpPr>
          <p:cNvPr id="31" name="Text 28"/>
          <p:cNvSpPr/>
          <p:nvPr/>
        </p:nvSpPr>
        <p:spPr>
          <a:xfrm>
            <a:off x="8778240" y="2834640"/>
            <a:ext cx="2788920" cy="640080"/>
          </a:xfrm>
          <a:prstGeom prst="rect">
            <a:avLst/>
          </a:prstGeom>
          <a:noFill/>
          <a:ln/>
        </p:spPr>
        <p:txBody>
          <a:bodyPr wrap="square" rtlCol="0" anchor="ctr"/>
          <a:lstStyle/>
          <a:p>
            <a:pPr algn="ctr" indent="0" marL="0">
              <a:buNone/>
            </a:pPr>
            <a:r>
              <a:rPr lang="en-US" sz="1450" b="1" dirty="0">
                <a:solidFill>
                  <a:srgbClr val="FFFFFF"/>
                </a:solidFill>
                <a:latin typeface="Calibri" pitchFamily="34" charset="0"/>
                <a:ea typeface="Calibri" pitchFamily="34" charset="-122"/>
                <a:cs typeface="Calibri" pitchFamily="34" charset="-120"/>
              </a:rPr>
              <a:t>6 things</a:t>
            </a:r>
            <a:endParaRPr lang="en-US" sz="1450" dirty="0"/>
          </a:p>
          <a:p>
            <a:pPr algn="ctr" indent="0" marL="0">
              <a:buNone/>
            </a:pPr>
            <a:r>
              <a:rPr lang="en-US" sz="1450" b="1" dirty="0">
                <a:solidFill>
                  <a:srgbClr val="FFFFFF"/>
                </a:solidFill>
                <a:latin typeface="Calibri" pitchFamily="34" charset="0"/>
                <a:ea typeface="Calibri" pitchFamily="34" charset="-122"/>
                <a:cs typeface="Calibri" pitchFamily="34" charset="-120"/>
              </a:rPr>
              <a:t>matter today</a:t>
            </a:r>
            <a:endParaRPr lang="en-US" sz="1450" dirty="0"/>
          </a:p>
        </p:txBody>
      </p:sp>
      <p:sp>
        <p:nvSpPr>
          <p:cNvPr id="32" name="Text 29"/>
          <p:cNvSpPr/>
          <p:nvPr/>
        </p:nvSpPr>
        <p:spPr>
          <a:xfrm>
            <a:off x="9006840" y="3520440"/>
            <a:ext cx="2331720" cy="1280160"/>
          </a:xfrm>
          <a:prstGeom prst="rect">
            <a:avLst/>
          </a:prstGeom>
          <a:noFill/>
          <a:ln/>
        </p:spPr>
        <p:txBody>
          <a:bodyPr wrap="square" rtlCol="0" anchor="ctr"/>
          <a:lstStyle/>
          <a:p>
            <a:pPr algn="ctr" indent="0" marL="0">
              <a:lnSpc>
                <a:spcPct val="120000"/>
              </a:lnSpc>
              <a:buNone/>
            </a:pPr>
            <a:r>
              <a:rPr lang="en-US" sz="1050" dirty="0">
                <a:solidFill>
                  <a:srgbClr val="C7D2E8"/>
                </a:solidFill>
                <a:latin typeface="Calibri" pitchFamily="34" charset="0"/>
                <a:ea typeface="Calibri" pitchFamily="34" charset="-122"/>
                <a:cs typeface="Calibri" pitchFamily="34" charset="-120"/>
              </a:rPr>
              <a:t>How it works, the demo, your role, the questionnaire, our data, and what you want — that's the whole call.</a:t>
            </a:r>
            <a:endParaRPr lang="en-US" sz="1050" dirty="0"/>
          </a:p>
        </p:txBody>
      </p:sp>
      <p:sp>
        <p:nvSpPr>
          <p:cNvPr id="33" name="Text 30"/>
          <p:cNvSpPr/>
          <p:nvPr/>
        </p:nvSpPr>
        <p:spPr>
          <a:xfrm>
            <a:off x="9006840" y="5029200"/>
            <a:ext cx="2331720" cy="822960"/>
          </a:xfrm>
          <a:prstGeom prst="rect">
            <a:avLst/>
          </a:prstGeom>
          <a:noFill/>
          <a:ln/>
        </p:spPr>
        <p:txBody>
          <a:bodyPr wrap="square" rtlCol="0" anchor="ctr"/>
          <a:lstStyle/>
          <a:p>
            <a:pPr algn="ctr" indent="0" marL="0">
              <a:lnSpc>
                <a:spcPct val="120000"/>
              </a:lnSpc>
              <a:buNone/>
            </a:pPr>
            <a:r>
              <a:rPr lang="en-US" sz="950" dirty="0">
                <a:solidFill>
                  <a:srgbClr val="8FA0C2"/>
                </a:solidFill>
                <a:latin typeface="Calibri" pitchFamily="34" charset="0"/>
                <a:ea typeface="Calibri" pitchFamily="34" charset="-122"/>
                <a:cs typeface="Calibri" pitchFamily="34" charset="-120"/>
              </a:rPr>
              <a:t>Segment 03 pauses the slides for a live screen share.</a:t>
            </a:r>
            <a:endParaRPr lang="en-US" sz="950" dirty="0"/>
          </a:p>
        </p:txBody>
      </p:sp>
      <p:sp>
        <p:nvSpPr>
          <p:cNvPr id="34" name="Text 31"/>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35" name="Text 32"/>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01 · INTRO</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3000" b="1" dirty="0">
                <a:solidFill>
                  <a:srgbClr val="1B1F27"/>
                </a:solidFill>
                <a:latin typeface="Cambria" pitchFamily="34" charset="0"/>
                <a:ea typeface="Cambria" pitchFamily="34" charset="-122"/>
                <a:cs typeface="Cambria" pitchFamily="34" charset="-120"/>
              </a:rPr>
              <a:t>Food insecurity monitoring is years behind the shocks it's meant to catch</a:t>
            </a:r>
            <a:endParaRPr lang="en-US" sz="3000" dirty="0"/>
          </a:p>
        </p:txBody>
      </p:sp>
      <p:sp>
        <p:nvSpPr>
          <p:cNvPr id="4" name="Shape 2"/>
          <p:cNvSpPr/>
          <p:nvPr/>
        </p:nvSpPr>
        <p:spPr>
          <a:xfrm>
            <a:off x="640080" y="1828800"/>
            <a:ext cx="3429000" cy="2286000"/>
          </a:xfrm>
          <a:prstGeom prst="roundRect">
            <a:avLst>
              <a:gd name="adj" fmla="val 3200"/>
            </a:avLst>
          </a:prstGeom>
          <a:solidFill>
            <a:srgbClr val="F5F7FA"/>
          </a:solidFill>
          <a:ln w="12700">
            <a:solidFill>
              <a:srgbClr val="E4E8EE"/>
            </a:solidFill>
            <a:prstDash val="solid"/>
          </a:ln>
        </p:spPr>
      </p:sp>
      <p:sp>
        <p:nvSpPr>
          <p:cNvPr id="5" name="Text 3"/>
          <p:cNvSpPr/>
          <p:nvPr/>
        </p:nvSpPr>
        <p:spPr>
          <a:xfrm>
            <a:off x="868680" y="2011680"/>
            <a:ext cx="2971800" cy="914400"/>
          </a:xfrm>
          <a:prstGeom prst="rect">
            <a:avLst/>
          </a:prstGeom>
          <a:noFill/>
          <a:ln/>
        </p:spPr>
        <p:txBody>
          <a:bodyPr wrap="square" rtlCol="0" anchor="ctr"/>
          <a:lstStyle/>
          <a:p>
            <a:pPr indent="0" marL="0">
              <a:buNone/>
            </a:pPr>
            <a:r>
              <a:rPr lang="en-US" sz="4200" b="1" dirty="0">
                <a:solidFill>
                  <a:srgbClr val="1F3864"/>
                </a:solidFill>
                <a:latin typeface="Cambria" pitchFamily="34" charset="0"/>
                <a:ea typeface="Cambria" pitchFamily="34" charset="-122"/>
                <a:cs typeface="Cambria" pitchFamily="34" charset="-120"/>
              </a:rPr>
              <a:t>44%</a:t>
            </a:r>
            <a:endParaRPr lang="en-US" sz="4200" dirty="0"/>
          </a:p>
        </p:txBody>
      </p:sp>
      <p:sp>
        <p:nvSpPr>
          <p:cNvPr id="6" name="Text 4"/>
          <p:cNvSpPr/>
          <p:nvPr/>
        </p:nvSpPr>
        <p:spPr>
          <a:xfrm>
            <a:off x="868680" y="2880360"/>
            <a:ext cx="2971800" cy="914400"/>
          </a:xfrm>
          <a:prstGeom prst="rect">
            <a:avLst/>
          </a:prstGeom>
          <a:noFill/>
          <a:ln/>
        </p:spPr>
        <p:txBody>
          <a:bodyPr wrap="square" rtlCol="0" anchor="ctr"/>
          <a:lstStyle/>
          <a:p>
            <a:pPr indent="0" marL="0">
              <a:lnSpc>
                <a:spcPct val="120000"/>
              </a:lnSpc>
              <a:buNone/>
            </a:pPr>
            <a:r>
              <a:rPr lang="en-US" sz="1300" dirty="0">
                <a:solidFill>
                  <a:srgbClr val="1B1F27"/>
                </a:solidFill>
                <a:latin typeface="Calibri" pitchFamily="34" charset="0"/>
                <a:ea typeface="Calibri" pitchFamily="34" charset="-122"/>
                <a:cs typeface="Calibri" pitchFamily="34" charset="-120"/>
              </a:rPr>
              <a:t>of Filipino households faced moderate-to-severe food insecurity in 2023</a:t>
            </a:r>
            <a:endParaRPr lang="en-US" sz="1300" dirty="0"/>
          </a:p>
        </p:txBody>
      </p:sp>
      <p:sp>
        <p:nvSpPr>
          <p:cNvPr id="7" name="Text 5"/>
          <p:cNvSpPr/>
          <p:nvPr/>
        </p:nvSpPr>
        <p:spPr>
          <a:xfrm>
            <a:off x="868680" y="3730752"/>
            <a:ext cx="2971800" cy="32004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DOST-FNRI, 2024</a:t>
            </a:r>
            <a:endParaRPr lang="en-US" sz="1050" dirty="0"/>
          </a:p>
        </p:txBody>
      </p:sp>
      <p:sp>
        <p:nvSpPr>
          <p:cNvPr id="8" name="Shape 6"/>
          <p:cNvSpPr/>
          <p:nvPr/>
        </p:nvSpPr>
        <p:spPr>
          <a:xfrm>
            <a:off x="4389120" y="1828800"/>
            <a:ext cx="3429000" cy="2286000"/>
          </a:xfrm>
          <a:prstGeom prst="roundRect">
            <a:avLst>
              <a:gd name="adj" fmla="val 3200"/>
            </a:avLst>
          </a:prstGeom>
          <a:solidFill>
            <a:srgbClr val="F5F7FA"/>
          </a:solidFill>
          <a:ln w="12700">
            <a:solidFill>
              <a:srgbClr val="E4E8EE"/>
            </a:solidFill>
            <a:prstDash val="solid"/>
          </a:ln>
        </p:spPr>
      </p:sp>
      <p:sp>
        <p:nvSpPr>
          <p:cNvPr id="9" name="Text 7"/>
          <p:cNvSpPr/>
          <p:nvPr/>
        </p:nvSpPr>
        <p:spPr>
          <a:xfrm>
            <a:off x="4617720" y="2011680"/>
            <a:ext cx="2971800" cy="914400"/>
          </a:xfrm>
          <a:prstGeom prst="rect">
            <a:avLst/>
          </a:prstGeom>
          <a:noFill/>
          <a:ln/>
        </p:spPr>
        <p:txBody>
          <a:bodyPr wrap="square" rtlCol="0" anchor="ctr"/>
          <a:lstStyle/>
          <a:p>
            <a:pPr indent="0" marL="0">
              <a:buNone/>
            </a:pPr>
            <a:r>
              <a:rPr lang="en-US" sz="4200" b="1" dirty="0">
                <a:solidFill>
                  <a:srgbClr val="1F3864"/>
                </a:solidFill>
                <a:latin typeface="Cambria" pitchFamily="34" charset="0"/>
                <a:ea typeface="Cambria" pitchFamily="34" charset="-122"/>
                <a:cs typeface="Cambria" pitchFamily="34" charset="-120"/>
              </a:rPr>
              <a:t>237,800</a:t>
            </a:r>
            <a:endParaRPr lang="en-US" sz="4200" dirty="0"/>
          </a:p>
        </p:txBody>
      </p:sp>
      <p:sp>
        <p:nvSpPr>
          <p:cNvPr id="10" name="Text 8"/>
          <p:cNvSpPr/>
          <p:nvPr/>
        </p:nvSpPr>
        <p:spPr>
          <a:xfrm>
            <a:off x="4617720" y="2880360"/>
            <a:ext cx="2971800" cy="914400"/>
          </a:xfrm>
          <a:prstGeom prst="rect">
            <a:avLst/>
          </a:prstGeom>
          <a:noFill/>
          <a:ln/>
        </p:spPr>
        <p:txBody>
          <a:bodyPr wrap="square" rtlCol="0" anchor="ctr"/>
          <a:lstStyle/>
          <a:p>
            <a:pPr indent="0" marL="0">
              <a:lnSpc>
                <a:spcPct val="120000"/>
              </a:lnSpc>
              <a:buNone/>
            </a:pPr>
            <a:r>
              <a:rPr lang="en-US" sz="1300" dirty="0">
                <a:solidFill>
                  <a:srgbClr val="1B1F27"/>
                </a:solidFill>
                <a:latin typeface="Calibri" pitchFamily="34" charset="0"/>
                <a:ea typeface="Calibri" pitchFamily="34" charset="-122"/>
                <a:cs typeface="Calibri" pitchFamily="34" charset="-120"/>
              </a:rPr>
              <a:t>residents in Region IV-A still cannot meet basic food needs</a:t>
            </a:r>
            <a:endParaRPr lang="en-US" sz="1300" dirty="0"/>
          </a:p>
        </p:txBody>
      </p:sp>
      <p:sp>
        <p:nvSpPr>
          <p:cNvPr id="11" name="Text 9"/>
          <p:cNvSpPr/>
          <p:nvPr/>
        </p:nvSpPr>
        <p:spPr>
          <a:xfrm>
            <a:off x="4617720" y="3730752"/>
            <a:ext cx="2971800" cy="32004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PSA RSSO IV-A, 2025</a:t>
            </a:r>
            <a:endParaRPr lang="en-US" sz="1050" dirty="0"/>
          </a:p>
        </p:txBody>
      </p:sp>
      <p:sp>
        <p:nvSpPr>
          <p:cNvPr id="12" name="Shape 10"/>
          <p:cNvSpPr/>
          <p:nvPr/>
        </p:nvSpPr>
        <p:spPr>
          <a:xfrm>
            <a:off x="8138160" y="1828800"/>
            <a:ext cx="3429000" cy="2286000"/>
          </a:xfrm>
          <a:prstGeom prst="roundRect">
            <a:avLst>
              <a:gd name="adj" fmla="val 3200"/>
            </a:avLst>
          </a:prstGeom>
          <a:solidFill>
            <a:srgbClr val="F5F7FA"/>
          </a:solidFill>
          <a:ln w="12700">
            <a:solidFill>
              <a:srgbClr val="E4E8EE"/>
            </a:solidFill>
            <a:prstDash val="solid"/>
          </a:ln>
        </p:spPr>
      </p:sp>
      <p:sp>
        <p:nvSpPr>
          <p:cNvPr id="13" name="Text 11"/>
          <p:cNvSpPr/>
          <p:nvPr/>
        </p:nvSpPr>
        <p:spPr>
          <a:xfrm>
            <a:off x="8366760" y="2011680"/>
            <a:ext cx="2971800" cy="914400"/>
          </a:xfrm>
          <a:prstGeom prst="rect">
            <a:avLst/>
          </a:prstGeom>
          <a:noFill/>
          <a:ln/>
        </p:spPr>
        <p:txBody>
          <a:bodyPr wrap="square" rtlCol="0" anchor="ctr"/>
          <a:lstStyle/>
          <a:p>
            <a:pPr indent="0" marL="0">
              <a:buNone/>
            </a:pPr>
            <a:r>
              <a:rPr lang="en-US" sz="4200" b="1" dirty="0">
                <a:solidFill>
                  <a:srgbClr val="1F3864"/>
                </a:solidFill>
                <a:latin typeface="Cambria" pitchFamily="34" charset="0"/>
                <a:ea typeface="Cambria" pitchFamily="34" charset="-122"/>
                <a:cs typeface="Cambria" pitchFamily="34" charset="-120"/>
              </a:rPr>
              <a:t>2–3 yrs</a:t>
            </a:r>
            <a:endParaRPr lang="en-US" sz="4200" dirty="0"/>
          </a:p>
        </p:txBody>
      </p:sp>
      <p:sp>
        <p:nvSpPr>
          <p:cNvPr id="14" name="Text 12"/>
          <p:cNvSpPr/>
          <p:nvPr/>
        </p:nvSpPr>
        <p:spPr>
          <a:xfrm>
            <a:off x="8366760" y="2880360"/>
            <a:ext cx="2971800" cy="914400"/>
          </a:xfrm>
          <a:prstGeom prst="rect">
            <a:avLst/>
          </a:prstGeom>
          <a:noFill/>
          <a:ln/>
        </p:spPr>
        <p:txBody>
          <a:bodyPr wrap="square" rtlCol="0" anchor="ctr"/>
          <a:lstStyle/>
          <a:p>
            <a:pPr indent="0" marL="0">
              <a:lnSpc>
                <a:spcPct val="120000"/>
              </a:lnSpc>
              <a:buNone/>
            </a:pPr>
            <a:r>
              <a:rPr lang="en-US" sz="1300" dirty="0">
                <a:solidFill>
                  <a:srgbClr val="1B1F27"/>
                </a:solidFill>
                <a:latin typeface="Calibri" pitchFamily="34" charset="0"/>
                <a:ea typeface="Calibri" pitchFamily="34" charset="-122"/>
                <a:cs typeface="Calibri" pitchFamily="34" charset="-120"/>
              </a:rPr>
              <a:t>the typical gap between official nutrition &amp; poverty survey rounds</a:t>
            </a:r>
            <a:endParaRPr lang="en-US" sz="1300" dirty="0"/>
          </a:p>
        </p:txBody>
      </p:sp>
      <p:sp>
        <p:nvSpPr>
          <p:cNvPr id="15" name="Text 13"/>
          <p:cNvSpPr/>
          <p:nvPr/>
        </p:nvSpPr>
        <p:spPr>
          <a:xfrm>
            <a:off x="8366760" y="3730752"/>
            <a:ext cx="2971800" cy="320040"/>
          </a:xfrm>
          <a:prstGeom prst="rect">
            <a:avLst/>
          </a:prstGeom>
          <a:noFill/>
          <a:ln/>
        </p:spPr>
        <p:txBody>
          <a:bodyPr wrap="square" rtlCol="0" anchor="ctr"/>
          <a:lstStyle/>
          <a:p>
            <a:pPr indent="0" marL="0">
              <a:buNone/>
            </a:pPr>
            <a:r>
              <a:rPr lang="en-US" sz="1050" dirty="0">
                <a:solidFill>
                  <a:srgbClr val="5B6472"/>
                </a:solidFill>
                <a:latin typeface="Calibri" pitchFamily="34" charset="0"/>
                <a:ea typeface="Calibri" pitchFamily="34" charset="-122"/>
                <a:cs typeface="Calibri" pitchFamily="34" charset="-120"/>
              </a:rPr>
              <a:t>DOST-FNRI / PSA</a:t>
            </a:r>
            <a:endParaRPr lang="en-US" sz="1050" dirty="0"/>
          </a:p>
        </p:txBody>
      </p:sp>
      <p:sp>
        <p:nvSpPr>
          <p:cNvPr id="16" name="Shape 14"/>
          <p:cNvSpPr/>
          <p:nvPr/>
        </p:nvSpPr>
        <p:spPr>
          <a:xfrm>
            <a:off x="640080" y="4434840"/>
            <a:ext cx="10881360" cy="1143000"/>
          </a:xfrm>
          <a:prstGeom prst="roundRect">
            <a:avLst>
              <a:gd name="adj" fmla="val 6400"/>
            </a:avLst>
          </a:prstGeom>
          <a:solidFill>
            <a:srgbClr val="0F7B6C"/>
          </a:solidFill>
          <a:ln/>
        </p:spPr>
      </p:sp>
      <p:sp>
        <p:nvSpPr>
          <p:cNvPr id="17" name="Text 15"/>
          <p:cNvSpPr/>
          <p:nvPr/>
        </p:nvSpPr>
        <p:spPr>
          <a:xfrm>
            <a:off x="914400" y="4434840"/>
            <a:ext cx="10332720" cy="11430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aiPHeed: a forward-looking, quarterly, LGU-level forecasting tool — built for and validated by a Philippine regional agency.</a:t>
            </a:r>
            <a:endParaRPr lang="en-US" sz="1600" dirty="0"/>
          </a:p>
        </p:txBody>
      </p:sp>
      <p:sp>
        <p:nvSpPr>
          <p:cNvPr id="18" name="Text 1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19" name="Text 17"/>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02 · SHORT TECHNICAL BACKGROUND</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3000" b="1" dirty="0">
                <a:solidFill>
                  <a:srgbClr val="1B1F27"/>
                </a:solidFill>
                <a:latin typeface="Cambria" pitchFamily="34" charset="0"/>
                <a:ea typeface="Cambria" pitchFamily="34" charset="-122"/>
                <a:cs typeface="Cambria" pitchFamily="34" charset="-120"/>
              </a:rPr>
              <a:t>From raw signals to an explained, quarterly forecast</a:t>
            </a:r>
            <a:endParaRPr lang="en-US" sz="3000" dirty="0"/>
          </a:p>
        </p:txBody>
      </p:sp>
      <p:sp>
        <p:nvSpPr>
          <p:cNvPr id="4" name="Shape 2"/>
          <p:cNvSpPr/>
          <p:nvPr/>
        </p:nvSpPr>
        <p:spPr>
          <a:xfrm>
            <a:off x="403708" y="2148840"/>
            <a:ext cx="2331720" cy="2194560"/>
          </a:xfrm>
          <a:prstGeom prst="roundRect">
            <a:avLst>
              <a:gd name="adj" fmla="val 4167"/>
            </a:avLst>
          </a:prstGeom>
          <a:solidFill>
            <a:srgbClr val="FFFFFF"/>
          </a:solidFill>
          <a:ln w="12700">
            <a:solidFill>
              <a:srgbClr val="E4E8EE"/>
            </a:solidFill>
            <a:prstDash val="solid"/>
          </a:ln>
        </p:spPr>
      </p:sp>
      <p:sp>
        <p:nvSpPr>
          <p:cNvPr id="5" name="Shape 3"/>
          <p:cNvSpPr/>
          <p:nvPr/>
        </p:nvSpPr>
        <p:spPr>
          <a:xfrm>
            <a:off x="1222096" y="2404872"/>
            <a:ext cx="694944" cy="694944"/>
          </a:xfrm>
          <a:prstGeom prst="ellipse">
            <a:avLst/>
          </a:prstGeom>
          <a:solidFill>
            <a:srgbClr val="1F3864"/>
          </a:solidFill>
          <a:ln/>
        </p:spPr>
      </p:sp>
      <p:pic>
        <p:nvPicPr>
          <p:cNvPr id="6" name="Image 0" descr="/tmp/aipheed_pptx/icons/newspaper.png">    </p:cNvPr>
          <p:cNvPicPr>
            <a:picLocks noChangeAspect="1"/>
          </p:cNvPicPr>
          <p:nvPr/>
        </p:nvPicPr>
        <p:blipFill>
          <a:blip r:embed="rId1"/>
          <a:stretch>
            <a:fillRect/>
          </a:stretch>
        </p:blipFill>
        <p:spPr>
          <a:xfrm>
            <a:off x="1377544" y="2560320"/>
            <a:ext cx="384048" cy="384048"/>
          </a:xfrm>
          <a:prstGeom prst="rect">
            <a:avLst/>
          </a:prstGeom>
        </p:spPr>
      </p:pic>
      <p:sp>
        <p:nvSpPr>
          <p:cNvPr id="7" name="Text 4"/>
          <p:cNvSpPr/>
          <p:nvPr/>
        </p:nvSpPr>
        <p:spPr>
          <a:xfrm>
            <a:off x="540868" y="3227832"/>
            <a:ext cx="2057400" cy="502920"/>
          </a:xfrm>
          <a:prstGeom prst="rect">
            <a:avLst/>
          </a:prstGeom>
          <a:noFill/>
          <a:ln/>
        </p:spPr>
        <p:txBody>
          <a:bodyPr wrap="square" rtlCol="0" anchor="ctr"/>
          <a:lstStyle/>
          <a:p>
            <a:pPr algn="ctr" indent="0" marL="0">
              <a:buNone/>
            </a:pPr>
            <a:r>
              <a:rPr lang="en-US" sz="1300" b="1" dirty="0">
                <a:solidFill>
                  <a:srgbClr val="1B1F27"/>
                </a:solidFill>
                <a:latin typeface="Calibri" pitchFamily="34" charset="0"/>
                <a:ea typeface="Calibri" pitchFamily="34" charset="-122"/>
                <a:cs typeface="Calibri" pitchFamily="34" charset="-120"/>
              </a:rPr>
              <a:t>News + Gov't Data</a:t>
            </a:r>
            <a:endParaRPr lang="en-US" sz="1300" dirty="0"/>
          </a:p>
        </p:txBody>
      </p:sp>
      <p:sp>
        <p:nvSpPr>
          <p:cNvPr id="8" name="Text 5"/>
          <p:cNvSpPr/>
          <p:nvPr/>
        </p:nvSpPr>
        <p:spPr>
          <a:xfrm>
            <a:off x="540868" y="3685032"/>
            <a:ext cx="2057400" cy="594360"/>
          </a:xfrm>
          <a:prstGeom prst="rect">
            <a:avLst/>
          </a:prstGeom>
          <a:noFill/>
          <a:ln/>
        </p:spPr>
        <p:txBody>
          <a:bodyPr wrap="square" rtlCol="0" anchor="ctr"/>
          <a:lstStyle/>
          <a:p>
            <a:pPr algn="ctr" indent="0" marL="0">
              <a:lnSpc>
                <a:spcPct val="115000"/>
              </a:lnSpc>
              <a:buNone/>
            </a:pPr>
            <a:r>
              <a:rPr lang="en-US" sz="950" dirty="0">
                <a:solidFill>
                  <a:srgbClr val="5B6472"/>
                </a:solidFill>
                <a:latin typeface="Calibri" pitchFamily="34" charset="0"/>
                <a:ea typeface="Calibri" pitchFamily="34" charset="-122"/>
                <a:cs typeface="Calibri" pitchFamily="34" charset="-120"/>
              </a:rPr>
              <a:t>17,791 articles + 2,732 datasets</a:t>
            </a:r>
            <a:endParaRPr lang="en-US" sz="950" dirty="0"/>
          </a:p>
        </p:txBody>
      </p:sp>
      <p:pic>
        <p:nvPicPr>
          <p:cNvPr id="9" name="Image 1" descr="/tmp/aipheed_pptx/icons/arrowRightGold.png">    </p:cNvPr>
          <p:cNvPicPr>
            <a:picLocks noChangeAspect="1"/>
          </p:cNvPicPr>
          <p:nvPr/>
        </p:nvPicPr>
        <p:blipFill>
          <a:blip r:embed="rId2"/>
          <a:stretch>
            <a:fillRect/>
          </a:stretch>
        </p:blipFill>
        <p:spPr>
          <a:xfrm>
            <a:off x="2817724" y="3044952"/>
            <a:ext cx="502920" cy="402336"/>
          </a:xfrm>
          <a:prstGeom prst="rect">
            <a:avLst/>
          </a:prstGeom>
        </p:spPr>
      </p:pic>
      <p:sp>
        <p:nvSpPr>
          <p:cNvPr id="10" name="Shape 6"/>
          <p:cNvSpPr/>
          <p:nvPr/>
        </p:nvSpPr>
        <p:spPr>
          <a:xfrm>
            <a:off x="3421228" y="2148840"/>
            <a:ext cx="2331720" cy="2194560"/>
          </a:xfrm>
          <a:prstGeom prst="roundRect">
            <a:avLst>
              <a:gd name="adj" fmla="val 4167"/>
            </a:avLst>
          </a:prstGeom>
          <a:solidFill>
            <a:srgbClr val="FFFFFF"/>
          </a:solidFill>
          <a:ln w="12700">
            <a:solidFill>
              <a:srgbClr val="E4E8EE"/>
            </a:solidFill>
            <a:prstDash val="solid"/>
          </a:ln>
        </p:spPr>
      </p:sp>
      <p:sp>
        <p:nvSpPr>
          <p:cNvPr id="11" name="Shape 7"/>
          <p:cNvSpPr/>
          <p:nvPr/>
        </p:nvSpPr>
        <p:spPr>
          <a:xfrm>
            <a:off x="4239616" y="2404872"/>
            <a:ext cx="694944" cy="694944"/>
          </a:xfrm>
          <a:prstGeom prst="ellipse">
            <a:avLst/>
          </a:prstGeom>
          <a:solidFill>
            <a:srgbClr val="1F3864"/>
          </a:solidFill>
          <a:ln/>
        </p:spPr>
      </p:sp>
      <p:pic>
        <p:nvPicPr>
          <p:cNvPr id="12" name="Image 2" descr="/tmp/aipheed_pptx/icons/scanSearch.png">    </p:cNvPr>
          <p:cNvPicPr>
            <a:picLocks noChangeAspect="1"/>
          </p:cNvPicPr>
          <p:nvPr/>
        </p:nvPicPr>
        <p:blipFill>
          <a:blip r:embed="rId3"/>
          <a:stretch>
            <a:fillRect/>
          </a:stretch>
        </p:blipFill>
        <p:spPr>
          <a:xfrm>
            <a:off x="4395064" y="2560320"/>
            <a:ext cx="384048" cy="384048"/>
          </a:xfrm>
          <a:prstGeom prst="rect">
            <a:avLst/>
          </a:prstGeom>
        </p:spPr>
      </p:pic>
      <p:sp>
        <p:nvSpPr>
          <p:cNvPr id="13" name="Text 8"/>
          <p:cNvSpPr/>
          <p:nvPr/>
        </p:nvSpPr>
        <p:spPr>
          <a:xfrm>
            <a:off x="3558388" y="3227832"/>
            <a:ext cx="2057400" cy="502920"/>
          </a:xfrm>
          <a:prstGeom prst="rect">
            <a:avLst/>
          </a:prstGeom>
          <a:noFill/>
          <a:ln/>
        </p:spPr>
        <p:txBody>
          <a:bodyPr wrap="square" rtlCol="0" anchor="ctr"/>
          <a:lstStyle/>
          <a:p>
            <a:pPr algn="ctr" indent="0" marL="0">
              <a:buNone/>
            </a:pPr>
            <a:r>
              <a:rPr lang="en-US" sz="1300" b="1" dirty="0">
                <a:solidFill>
                  <a:srgbClr val="1B1F27"/>
                </a:solidFill>
                <a:latin typeface="Calibri" pitchFamily="34" charset="0"/>
                <a:ea typeface="Calibri" pitchFamily="34" charset="-122"/>
                <a:cs typeface="Calibri" pitchFamily="34" charset="-120"/>
              </a:rPr>
              <a:t>NLP + Feature Engineering</a:t>
            </a:r>
            <a:endParaRPr lang="en-US" sz="1300" dirty="0"/>
          </a:p>
        </p:txBody>
      </p:sp>
      <p:sp>
        <p:nvSpPr>
          <p:cNvPr id="14" name="Text 9"/>
          <p:cNvSpPr/>
          <p:nvPr/>
        </p:nvSpPr>
        <p:spPr>
          <a:xfrm>
            <a:off x="3558388" y="3685032"/>
            <a:ext cx="2057400" cy="594360"/>
          </a:xfrm>
          <a:prstGeom prst="rect">
            <a:avLst/>
          </a:prstGeom>
          <a:noFill/>
          <a:ln/>
        </p:spPr>
        <p:txBody>
          <a:bodyPr wrap="square" rtlCol="0" anchor="ctr"/>
          <a:lstStyle/>
          <a:p>
            <a:pPr algn="ctr" indent="0" marL="0">
              <a:lnSpc>
                <a:spcPct val="115000"/>
              </a:lnSpc>
              <a:buNone/>
            </a:pPr>
            <a:r>
              <a:rPr lang="en-US" sz="950" dirty="0">
                <a:solidFill>
                  <a:srgbClr val="5B6472"/>
                </a:solidFill>
                <a:latin typeface="Calibri" pitchFamily="34" charset="0"/>
                <a:ea typeface="Calibri" pitchFamily="34" charset="-122"/>
                <a:cs typeface="Calibri" pitchFamily="34" charset="-120"/>
              </a:rPr>
              <a:t>Food Stress Sentiment Index, CPI gaps, climate encodings</a:t>
            </a:r>
            <a:endParaRPr lang="en-US" sz="950" dirty="0"/>
          </a:p>
        </p:txBody>
      </p:sp>
      <p:pic>
        <p:nvPicPr>
          <p:cNvPr id="15" name="Image 3" descr="/tmp/aipheed_pptx/icons/arrowRightGold.png">    </p:cNvPr>
          <p:cNvPicPr>
            <a:picLocks noChangeAspect="1"/>
          </p:cNvPicPr>
          <p:nvPr/>
        </p:nvPicPr>
        <p:blipFill>
          <a:blip r:embed="rId4"/>
          <a:stretch>
            <a:fillRect/>
          </a:stretch>
        </p:blipFill>
        <p:spPr>
          <a:xfrm>
            <a:off x="5835244" y="3044952"/>
            <a:ext cx="502920" cy="402336"/>
          </a:xfrm>
          <a:prstGeom prst="rect">
            <a:avLst/>
          </a:prstGeom>
        </p:spPr>
      </p:pic>
      <p:sp>
        <p:nvSpPr>
          <p:cNvPr id="16" name="Shape 10"/>
          <p:cNvSpPr/>
          <p:nvPr/>
        </p:nvSpPr>
        <p:spPr>
          <a:xfrm>
            <a:off x="6438748" y="2148840"/>
            <a:ext cx="2331720" cy="2194560"/>
          </a:xfrm>
          <a:prstGeom prst="roundRect">
            <a:avLst>
              <a:gd name="adj" fmla="val 4167"/>
            </a:avLst>
          </a:prstGeom>
          <a:solidFill>
            <a:srgbClr val="FFFFFF"/>
          </a:solidFill>
          <a:ln w="12700">
            <a:solidFill>
              <a:srgbClr val="E4E8EE"/>
            </a:solidFill>
            <a:prstDash val="solid"/>
          </a:ln>
        </p:spPr>
      </p:sp>
      <p:sp>
        <p:nvSpPr>
          <p:cNvPr id="17" name="Shape 11"/>
          <p:cNvSpPr/>
          <p:nvPr/>
        </p:nvSpPr>
        <p:spPr>
          <a:xfrm>
            <a:off x="7257136" y="2404872"/>
            <a:ext cx="694944" cy="694944"/>
          </a:xfrm>
          <a:prstGeom prst="ellipse">
            <a:avLst/>
          </a:prstGeom>
          <a:solidFill>
            <a:srgbClr val="1F3864"/>
          </a:solidFill>
          <a:ln/>
        </p:spPr>
      </p:sp>
      <p:pic>
        <p:nvPicPr>
          <p:cNvPr id="18" name="Image 4" descr="/tmp/aipheed_pptx/icons/brainCircuit.png">    </p:cNvPr>
          <p:cNvPicPr>
            <a:picLocks noChangeAspect="1"/>
          </p:cNvPicPr>
          <p:nvPr/>
        </p:nvPicPr>
        <p:blipFill>
          <a:blip r:embed="rId5"/>
          <a:stretch>
            <a:fillRect/>
          </a:stretch>
        </p:blipFill>
        <p:spPr>
          <a:xfrm>
            <a:off x="7412584" y="2560320"/>
            <a:ext cx="384048" cy="384048"/>
          </a:xfrm>
          <a:prstGeom prst="rect">
            <a:avLst/>
          </a:prstGeom>
        </p:spPr>
      </p:pic>
      <p:sp>
        <p:nvSpPr>
          <p:cNvPr id="19" name="Text 12"/>
          <p:cNvSpPr/>
          <p:nvPr/>
        </p:nvSpPr>
        <p:spPr>
          <a:xfrm>
            <a:off x="6575908" y="3227832"/>
            <a:ext cx="2057400" cy="502920"/>
          </a:xfrm>
          <a:prstGeom prst="rect">
            <a:avLst/>
          </a:prstGeom>
          <a:noFill/>
          <a:ln/>
        </p:spPr>
        <p:txBody>
          <a:bodyPr wrap="square" rtlCol="0" anchor="ctr"/>
          <a:lstStyle/>
          <a:p>
            <a:pPr algn="ctr" indent="0" marL="0">
              <a:buNone/>
            </a:pPr>
            <a:r>
              <a:rPr lang="en-US" sz="1300" b="1" dirty="0">
                <a:solidFill>
                  <a:srgbClr val="1B1F27"/>
                </a:solidFill>
                <a:latin typeface="Calibri" pitchFamily="34" charset="0"/>
                <a:ea typeface="Calibri" pitchFamily="34" charset="-122"/>
                <a:cs typeface="Calibri" pitchFamily="34" charset="-120"/>
              </a:rPr>
              <a:t>LightGBM + SHAP</a:t>
            </a:r>
            <a:endParaRPr lang="en-US" sz="1300" dirty="0"/>
          </a:p>
        </p:txBody>
      </p:sp>
      <p:sp>
        <p:nvSpPr>
          <p:cNvPr id="20" name="Text 13"/>
          <p:cNvSpPr/>
          <p:nvPr/>
        </p:nvSpPr>
        <p:spPr>
          <a:xfrm>
            <a:off x="6575908" y="3685032"/>
            <a:ext cx="2057400" cy="594360"/>
          </a:xfrm>
          <a:prstGeom prst="rect">
            <a:avLst/>
          </a:prstGeom>
          <a:noFill/>
          <a:ln/>
        </p:spPr>
        <p:txBody>
          <a:bodyPr wrap="square" rtlCol="0" anchor="ctr"/>
          <a:lstStyle/>
          <a:p>
            <a:pPr algn="ctr" indent="0" marL="0">
              <a:lnSpc>
                <a:spcPct val="115000"/>
              </a:lnSpc>
              <a:buNone/>
            </a:pPr>
            <a:r>
              <a:rPr lang="en-US" sz="950" dirty="0">
                <a:solidFill>
                  <a:srgbClr val="5B6472"/>
                </a:solidFill>
                <a:latin typeface="Calibri" pitchFamily="34" charset="0"/>
                <a:ea typeface="Calibri" pitchFamily="34" charset="-122"/>
                <a:cs typeface="Calibri" pitchFamily="34" charset="-120"/>
              </a:rPr>
              <a:t>HIGH/LOW risk classification, fully explained</a:t>
            </a:r>
            <a:endParaRPr lang="en-US" sz="950" dirty="0"/>
          </a:p>
        </p:txBody>
      </p:sp>
      <p:pic>
        <p:nvPicPr>
          <p:cNvPr id="21" name="Image 5" descr="/tmp/aipheed_pptx/icons/arrowRightGold.png">    </p:cNvPr>
          <p:cNvPicPr>
            <a:picLocks noChangeAspect="1"/>
          </p:cNvPicPr>
          <p:nvPr/>
        </p:nvPicPr>
        <p:blipFill>
          <a:blip r:embed="rId6"/>
          <a:stretch>
            <a:fillRect/>
          </a:stretch>
        </p:blipFill>
        <p:spPr>
          <a:xfrm>
            <a:off x="8852764" y="3044952"/>
            <a:ext cx="502920" cy="402336"/>
          </a:xfrm>
          <a:prstGeom prst="rect">
            <a:avLst/>
          </a:prstGeom>
        </p:spPr>
      </p:pic>
      <p:sp>
        <p:nvSpPr>
          <p:cNvPr id="22" name="Shape 14"/>
          <p:cNvSpPr/>
          <p:nvPr/>
        </p:nvSpPr>
        <p:spPr>
          <a:xfrm>
            <a:off x="9456268" y="2148840"/>
            <a:ext cx="2331720" cy="2194560"/>
          </a:xfrm>
          <a:prstGeom prst="roundRect">
            <a:avLst>
              <a:gd name="adj" fmla="val 4167"/>
            </a:avLst>
          </a:prstGeom>
          <a:solidFill>
            <a:srgbClr val="1F3864"/>
          </a:solidFill>
          <a:ln w="12700">
            <a:solidFill>
              <a:srgbClr val="1F3864"/>
            </a:solidFill>
            <a:prstDash val="solid"/>
          </a:ln>
        </p:spPr>
      </p:sp>
      <p:sp>
        <p:nvSpPr>
          <p:cNvPr id="23" name="Shape 15"/>
          <p:cNvSpPr/>
          <p:nvPr/>
        </p:nvSpPr>
        <p:spPr>
          <a:xfrm>
            <a:off x="10274656" y="2404872"/>
            <a:ext cx="694944" cy="694944"/>
          </a:xfrm>
          <a:prstGeom prst="ellipse">
            <a:avLst/>
          </a:prstGeom>
          <a:solidFill>
            <a:srgbClr val="0F7B6C"/>
          </a:solidFill>
          <a:ln/>
        </p:spPr>
      </p:sp>
      <p:pic>
        <p:nvPicPr>
          <p:cNvPr id="24" name="Image 6" descr="/tmp/aipheed_pptx/icons/layoutDashboard.png">    </p:cNvPr>
          <p:cNvPicPr>
            <a:picLocks noChangeAspect="1"/>
          </p:cNvPicPr>
          <p:nvPr/>
        </p:nvPicPr>
        <p:blipFill>
          <a:blip r:embed="rId7"/>
          <a:stretch>
            <a:fillRect/>
          </a:stretch>
        </p:blipFill>
        <p:spPr>
          <a:xfrm>
            <a:off x="10430104" y="2560320"/>
            <a:ext cx="384048" cy="384048"/>
          </a:xfrm>
          <a:prstGeom prst="rect">
            <a:avLst/>
          </a:prstGeom>
        </p:spPr>
      </p:pic>
      <p:sp>
        <p:nvSpPr>
          <p:cNvPr id="25" name="Text 16"/>
          <p:cNvSpPr/>
          <p:nvPr/>
        </p:nvSpPr>
        <p:spPr>
          <a:xfrm>
            <a:off x="9593428" y="3227832"/>
            <a:ext cx="2057400" cy="50292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Geospatial Dashboard</a:t>
            </a:r>
            <a:endParaRPr lang="en-US" sz="1300" dirty="0"/>
          </a:p>
        </p:txBody>
      </p:sp>
      <p:sp>
        <p:nvSpPr>
          <p:cNvPr id="26" name="Text 17"/>
          <p:cNvSpPr/>
          <p:nvPr/>
        </p:nvSpPr>
        <p:spPr>
          <a:xfrm>
            <a:off x="9593428" y="3685032"/>
            <a:ext cx="2057400" cy="594360"/>
          </a:xfrm>
          <a:prstGeom prst="rect">
            <a:avLst/>
          </a:prstGeom>
          <a:noFill/>
          <a:ln/>
        </p:spPr>
        <p:txBody>
          <a:bodyPr wrap="square" rtlCol="0" anchor="ctr"/>
          <a:lstStyle/>
          <a:p>
            <a:pPr algn="ctr" indent="0" marL="0">
              <a:lnSpc>
                <a:spcPct val="115000"/>
              </a:lnSpc>
              <a:buNone/>
            </a:pPr>
            <a:r>
              <a:rPr lang="en-US" sz="950" dirty="0">
                <a:solidFill>
                  <a:srgbClr val="C7D2E8"/>
                </a:solidFill>
                <a:latin typeface="Calibri" pitchFamily="34" charset="0"/>
                <a:ea typeface="Calibri" pitchFamily="34" charset="-122"/>
                <a:cs typeface="Calibri" pitchFamily="34" charset="-120"/>
              </a:rPr>
              <a:t>Province + 142-LGU forecasts, alerts</a:t>
            </a:r>
            <a:endParaRPr lang="en-US" sz="950" dirty="0"/>
          </a:p>
        </p:txBody>
      </p:sp>
      <p:sp>
        <p:nvSpPr>
          <p:cNvPr id="27" name="Text 18"/>
          <p:cNvSpPr/>
          <p:nvPr/>
        </p:nvSpPr>
        <p:spPr>
          <a:xfrm>
            <a:off x="640080" y="4709160"/>
            <a:ext cx="10881360" cy="365760"/>
          </a:xfrm>
          <a:prstGeom prst="rect">
            <a:avLst/>
          </a:prstGeom>
          <a:noFill/>
          <a:ln/>
        </p:spPr>
        <p:txBody>
          <a:bodyPr wrap="square" rtlCol="0" anchor="ctr"/>
          <a:lstStyle/>
          <a:p>
            <a:pPr algn="ctr" indent="0" marL="0">
              <a:buNone/>
            </a:pPr>
            <a:r>
              <a:rPr lang="en-US" sz="1200" dirty="0">
                <a:solidFill>
                  <a:srgbClr val="5B6472"/>
                </a:solidFill>
                <a:latin typeface="Calibri" pitchFamily="34" charset="0"/>
                <a:ea typeface="Calibri" pitchFamily="34" charset="-122"/>
                <a:cs typeface="Calibri" pitchFamily="34" charset="-120"/>
              </a:rPr>
              <a:t>Runs automatically every quarter · every forecast is staged for mandatory human review before it reaches the public dashboard</a:t>
            </a:r>
            <a:endParaRPr lang="en-US" sz="1200" dirty="0"/>
          </a:p>
        </p:txBody>
      </p:sp>
      <p:sp>
        <p:nvSpPr>
          <p:cNvPr id="28" name="Text 19"/>
          <p:cNvSpPr/>
          <p:nvPr/>
        </p:nvSpPr>
        <p:spPr>
          <a:xfrm>
            <a:off x="640080" y="5166360"/>
            <a:ext cx="10881360" cy="457200"/>
          </a:xfrm>
          <a:prstGeom prst="rect">
            <a:avLst/>
          </a:prstGeom>
          <a:noFill/>
          <a:ln/>
        </p:spPr>
        <p:txBody>
          <a:bodyPr wrap="square" rtlCol="0" anchor="ctr"/>
          <a:lstStyle/>
          <a:p>
            <a:pPr algn="ctr" indent="0" marL="0">
              <a:buNone/>
            </a:pPr>
            <a:r>
              <a:rPr lang="en-US" sz="1200" b="1" dirty="0">
                <a:solidFill>
                  <a:srgbClr val="B7862C"/>
                </a:solidFill>
                <a:latin typeface="Calibri" pitchFamily="34" charset="0"/>
                <a:ea typeface="Calibri" pitchFamily="34" charset="-122"/>
                <a:cs typeface="Calibri" pitchFamily="34" charset="-120"/>
              </a:rPr>
              <a:t>Nothing today does this for the Philippines — WFP HungerMap excludes us; DOST-FNRI's Heat Map shows the past, not what's next.</a:t>
            </a:r>
            <a:endParaRPr lang="en-US" sz="1200" dirty="0"/>
          </a:p>
        </p:txBody>
      </p:sp>
      <p:sp>
        <p:nvSpPr>
          <p:cNvPr id="29" name="Text 20"/>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30" name="Text 21"/>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294A"/>
        </a:solidFill>
      </p:bgPr>
    </p:bg>
    <p:spTree>
      <p:nvGrpSpPr>
        <p:cNvPr id="1" name=""/>
        <p:cNvGrpSpPr/>
        <p:nvPr/>
      </p:nvGrpSpPr>
      <p:grpSpPr>
        <a:xfrm>
          <a:off x="0" y="0"/>
          <a:ext cx="0" cy="0"/>
          <a:chOff x="0" y="0"/>
          <a:chExt cx="0" cy="0"/>
        </a:xfrm>
      </p:grpSpPr>
      <p:sp>
        <p:nvSpPr>
          <p:cNvPr id="2" name="Shape 0"/>
          <p:cNvSpPr/>
          <p:nvPr/>
        </p:nvSpPr>
        <p:spPr>
          <a:xfrm>
            <a:off x="-1828800" y="4114800"/>
            <a:ext cx="5486400" cy="5486400"/>
          </a:xfrm>
          <a:prstGeom prst="ellipse">
            <a:avLst/>
          </a:prstGeom>
          <a:solidFill>
            <a:srgbClr val="1F3864"/>
          </a:solidFill>
          <a:ln/>
        </p:spPr>
      </p:sp>
      <p:sp>
        <p:nvSpPr>
          <p:cNvPr id="3" name="Shape 1"/>
          <p:cNvSpPr/>
          <p:nvPr/>
        </p:nvSpPr>
        <p:spPr>
          <a:xfrm>
            <a:off x="5638648" y="777240"/>
            <a:ext cx="914400" cy="914400"/>
          </a:xfrm>
          <a:prstGeom prst="ellipse">
            <a:avLst/>
          </a:prstGeom>
          <a:solidFill>
            <a:srgbClr val="0F7B6C"/>
          </a:solidFill>
          <a:ln/>
        </p:spPr>
      </p:sp>
      <p:pic>
        <p:nvPicPr>
          <p:cNvPr id="4" name="Image 0" descr="/tmp/aipheed_pptx/icons/monitorPlay.png">    </p:cNvPr>
          <p:cNvPicPr>
            <a:picLocks noChangeAspect="1"/>
          </p:cNvPicPr>
          <p:nvPr/>
        </p:nvPicPr>
        <p:blipFill>
          <a:blip r:embed="rId1"/>
          <a:stretch>
            <a:fillRect/>
          </a:stretch>
        </p:blipFill>
        <p:spPr>
          <a:xfrm>
            <a:off x="5839816" y="978408"/>
            <a:ext cx="512064" cy="512064"/>
          </a:xfrm>
          <a:prstGeom prst="rect">
            <a:avLst/>
          </a:prstGeom>
        </p:spPr>
      </p:pic>
      <p:sp>
        <p:nvSpPr>
          <p:cNvPr id="5" name="Text 2"/>
          <p:cNvSpPr/>
          <p:nvPr/>
        </p:nvSpPr>
        <p:spPr>
          <a:xfrm>
            <a:off x="0" y="1828800"/>
            <a:ext cx="12191695" cy="365760"/>
          </a:xfrm>
          <a:prstGeom prst="rect">
            <a:avLst/>
          </a:prstGeom>
          <a:noFill/>
          <a:ln/>
        </p:spPr>
        <p:txBody>
          <a:bodyPr wrap="square" rtlCol="0" anchor="ctr"/>
          <a:lstStyle/>
          <a:p>
            <a:pPr algn="ctr" indent="0" marL="0">
              <a:buNone/>
            </a:pPr>
            <a:r>
              <a:rPr lang="en-US" sz="1300" b="1" spc="300" kern="0" dirty="0">
                <a:solidFill>
                  <a:srgbClr val="B7862C"/>
                </a:solidFill>
              </a:rPr>
              <a:t>03 · LIVE SYSTEM DEMO</a:t>
            </a:r>
            <a:endParaRPr lang="en-US" sz="1300" dirty="0"/>
          </a:p>
        </p:txBody>
      </p:sp>
      <p:sp>
        <p:nvSpPr>
          <p:cNvPr id="6" name="Text 3"/>
          <p:cNvSpPr/>
          <p:nvPr/>
        </p:nvSpPr>
        <p:spPr>
          <a:xfrm>
            <a:off x="0" y="2176272"/>
            <a:ext cx="12191695" cy="685800"/>
          </a:xfrm>
          <a:prstGeom prst="rect">
            <a:avLst/>
          </a:prstGeom>
          <a:noFill/>
          <a:ln/>
        </p:spPr>
        <p:txBody>
          <a:bodyPr wrap="square" rtlCol="0" anchor="ctr"/>
          <a:lstStyle/>
          <a:p>
            <a:pPr algn="ctr" indent="0" marL="0">
              <a:buNone/>
            </a:pPr>
            <a:r>
              <a:rPr lang="en-US" sz="3200" b="1" dirty="0">
                <a:solidFill>
                  <a:srgbClr val="FFFFFF"/>
                </a:solidFill>
                <a:latin typeface="Cambria" pitchFamily="34" charset="0"/>
                <a:ea typeface="Cambria" pitchFamily="34" charset="-122"/>
                <a:cs typeface="Cambria" pitchFamily="34" charset="-120"/>
              </a:rPr>
              <a:t>Let's see it in action</a:t>
            </a:r>
            <a:endParaRPr lang="en-US" sz="3200" dirty="0"/>
          </a:p>
        </p:txBody>
      </p:sp>
      <p:sp>
        <p:nvSpPr>
          <p:cNvPr id="7" name="Shape 4"/>
          <p:cNvSpPr/>
          <p:nvPr/>
        </p:nvSpPr>
        <p:spPr>
          <a:xfrm>
            <a:off x="1737360" y="2999232"/>
            <a:ext cx="8732520" cy="658368"/>
          </a:xfrm>
          <a:prstGeom prst="roundRect">
            <a:avLst>
              <a:gd name="adj" fmla="val 11111"/>
            </a:avLst>
          </a:prstGeom>
          <a:solidFill>
            <a:srgbClr val="B7862C"/>
          </a:solidFill>
          <a:ln/>
        </p:spPr>
      </p:sp>
      <p:sp>
        <p:nvSpPr>
          <p:cNvPr id="8" name="Text 5"/>
          <p:cNvSpPr/>
          <p:nvPr/>
        </p:nvSpPr>
        <p:spPr>
          <a:xfrm>
            <a:off x="1920240" y="2999232"/>
            <a:ext cx="8366760" cy="658368"/>
          </a:xfrm>
          <a:prstGeom prst="rect">
            <a:avLst/>
          </a:prstGeom>
          <a:noFill/>
          <a:ln/>
        </p:spPr>
        <p:txBody>
          <a:bodyPr wrap="square" rtlCol="0" anchor="ctr"/>
          <a:lstStyle/>
          <a:p>
            <a:pPr algn="ctr" indent="0" marL="0">
              <a:lnSpc>
                <a:spcPct val="120000"/>
              </a:lnSpc>
              <a:buNone/>
            </a:pPr>
            <a:r>
              <a:rPr lang="en-US" sz="1250" b="1" dirty="0">
                <a:solidFill>
                  <a:srgbClr val="16294A"/>
                </a:solidFill>
                <a:latin typeface="Calibri" pitchFamily="34" charset="0"/>
                <a:ea typeface="Calibri" pitchFamily="34" charset="-122"/>
                <a:cs typeface="Calibri" pitchFamily="34" charset="-120"/>
              </a:rPr>
              <a:t>⚠  Today's numbers are MOCK / PLACEHOLDER DATA — the trained model isn't integrated into this dashboard yet. This shows UI &amp; workflow only, not real forecasts.</a:t>
            </a:r>
            <a:endParaRPr lang="en-US" sz="1250" dirty="0"/>
          </a:p>
        </p:txBody>
      </p:sp>
      <p:sp>
        <p:nvSpPr>
          <p:cNvPr id="9" name="Shape 6"/>
          <p:cNvSpPr/>
          <p:nvPr/>
        </p:nvSpPr>
        <p:spPr>
          <a:xfrm>
            <a:off x="1737360" y="3977640"/>
            <a:ext cx="2468880" cy="438912"/>
          </a:xfrm>
          <a:prstGeom prst="roundRect">
            <a:avLst>
              <a:gd name="adj" fmla="val 50000"/>
            </a:avLst>
          </a:prstGeom>
          <a:solidFill>
            <a:srgbClr val="1F3864"/>
          </a:solidFill>
          <a:ln w="12700">
            <a:solidFill>
              <a:srgbClr val="2A3E6B"/>
            </a:solidFill>
            <a:prstDash val="solid"/>
          </a:ln>
        </p:spPr>
      </p:sp>
      <p:sp>
        <p:nvSpPr>
          <p:cNvPr id="10" name="Text 7"/>
          <p:cNvSpPr/>
          <p:nvPr/>
        </p:nvSpPr>
        <p:spPr>
          <a:xfrm>
            <a:off x="1737360" y="3977640"/>
            <a:ext cx="2468880" cy="438912"/>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Map &amp; quarterly forecasts</a:t>
            </a:r>
            <a:endParaRPr lang="en-US" sz="1150" dirty="0"/>
          </a:p>
        </p:txBody>
      </p:sp>
      <p:sp>
        <p:nvSpPr>
          <p:cNvPr id="11" name="Shape 8"/>
          <p:cNvSpPr/>
          <p:nvPr/>
        </p:nvSpPr>
        <p:spPr>
          <a:xfrm>
            <a:off x="4389120" y="3977640"/>
            <a:ext cx="2710282" cy="438912"/>
          </a:xfrm>
          <a:prstGeom prst="roundRect">
            <a:avLst>
              <a:gd name="adj" fmla="val 50000"/>
            </a:avLst>
          </a:prstGeom>
          <a:solidFill>
            <a:srgbClr val="1F3864"/>
          </a:solidFill>
          <a:ln w="12700">
            <a:solidFill>
              <a:srgbClr val="2A3E6B"/>
            </a:solidFill>
            <a:prstDash val="solid"/>
          </a:ln>
        </p:spPr>
      </p:sp>
      <p:sp>
        <p:nvSpPr>
          <p:cNvPr id="12" name="Text 9"/>
          <p:cNvSpPr/>
          <p:nvPr/>
        </p:nvSpPr>
        <p:spPr>
          <a:xfrm>
            <a:off x="4389120" y="3977640"/>
            <a:ext cx="2710282" cy="438912"/>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Municipal/city risk rankings</a:t>
            </a:r>
            <a:endParaRPr lang="en-US" sz="1150" dirty="0"/>
          </a:p>
        </p:txBody>
      </p:sp>
      <p:sp>
        <p:nvSpPr>
          <p:cNvPr id="13" name="Shape 10"/>
          <p:cNvSpPr/>
          <p:nvPr/>
        </p:nvSpPr>
        <p:spPr>
          <a:xfrm>
            <a:off x="7282282" y="3977640"/>
            <a:ext cx="2227478" cy="438912"/>
          </a:xfrm>
          <a:prstGeom prst="roundRect">
            <a:avLst>
              <a:gd name="adj" fmla="val 50000"/>
            </a:avLst>
          </a:prstGeom>
          <a:solidFill>
            <a:srgbClr val="1F3864"/>
          </a:solidFill>
          <a:ln w="12700">
            <a:solidFill>
              <a:srgbClr val="2A3E6B"/>
            </a:solidFill>
            <a:prstDash val="solid"/>
          </a:ln>
        </p:spPr>
      </p:sp>
      <p:sp>
        <p:nvSpPr>
          <p:cNvPr id="14" name="Text 11"/>
          <p:cNvSpPr/>
          <p:nvPr/>
        </p:nvSpPr>
        <p:spPr>
          <a:xfrm>
            <a:off x="7282282" y="3977640"/>
            <a:ext cx="2227478" cy="438912"/>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SHAP explanation panel</a:t>
            </a:r>
            <a:endParaRPr lang="en-US" sz="1150" dirty="0"/>
          </a:p>
        </p:txBody>
      </p:sp>
      <p:sp>
        <p:nvSpPr>
          <p:cNvPr id="15" name="Shape 12"/>
          <p:cNvSpPr/>
          <p:nvPr/>
        </p:nvSpPr>
        <p:spPr>
          <a:xfrm>
            <a:off x="9692640" y="3977640"/>
            <a:ext cx="2066544" cy="438912"/>
          </a:xfrm>
          <a:prstGeom prst="roundRect">
            <a:avLst>
              <a:gd name="adj" fmla="val 50000"/>
            </a:avLst>
          </a:prstGeom>
          <a:solidFill>
            <a:srgbClr val="1F3864"/>
          </a:solidFill>
          <a:ln w="12700">
            <a:solidFill>
              <a:srgbClr val="2A3E6B"/>
            </a:solidFill>
            <a:prstDash val="solid"/>
          </a:ln>
        </p:spPr>
      </p:sp>
      <p:sp>
        <p:nvSpPr>
          <p:cNvPr id="16" name="Text 13"/>
          <p:cNvSpPr/>
          <p:nvPr/>
        </p:nvSpPr>
        <p:spPr>
          <a:xfrm>
            <a:off x="9692640" y="3977640"/>
            <a:ext cx="2066544" cy="438912"/>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Early-warning alerts</a:t>
            </a:r>
            <a:endParaRPr lang="en-US" sz="1150" dirty="0"/>
          </a:p>
        </p:txBody>
      </p:sp>
      <p:sp>
        <p:nvSpPr>
          <p:cNvPr id="17" name="Shape 14"/>
          <p:cNvSpPr/>
          <p:nvPr/>
        </p:nvSpPr>
        <p:spPr>
          <a:xfrm>
            <a:off x="1737360" y="4544568"/>
            <a:ext cx="1664208" cy="438912"/>
          </a:xfrm>
          <a:prstGeom prst="roundRect">
            <a:avLst>
              <a:gd name="adj" fmla="val 50000"/>
            </a:avLst>
          </a:prstGeom>
          <a:solidFill>
            <a:srgbClr val="1F3864"/>
          </a:solidFill>
          <a:ln w="12700">
            <a:solidFill>
              <a:srgbClr val="2A3E6B"/>
            </a:solidFill>
            <a:prstDash val="solid"/>
          </a:ln>
        </p:spPr>
      </p:sp>
      <p:sp>
        <p:nvSpPr>
          <p:cNvPr id="18" name="Text 15"/>
          <p:cNvSpPr/>
          <p:nvPr/>
        </p:nvSpPr>
        <p:spPr>
          <a:xfrm>
            <a:off x="1737360" y="4544568"/>
            <a:ext cx="1664208" cy="438912"/>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What-if sandbox</a:t>
            </a:r>
            <a:endParaRPr lang="en-US" sz="1150" dirty="0"/>
          </a:p>
        </p:txBody>
      </p:sp>
      <p:sp>
        <p:nvSpPr>
          <p:cNvPr id="19" name="Shape 16"/>
          <p:cNvSpPr/>
          <p:nvPr/>
        </p:nvSpPr>
        <p:spPr>
          <a:xfrm>
            <a:off x="3584448" y="4544568"/>
            <a:ext cx="2147011" cy="438912"/>
          </a:xfrm>
          <a:prstGeom prst="roundRect">
            <a:avLst>
              <a:gd name="adj" fmla="val 50000"/>
            </a:avLst>
          </a:prstGeom>
          <a:solidFill>
            <a:srgbClr val="1F3864"/>
          </a:solidFill>
          <a:ln w="12700">
            <a:solidFill>
              <a:srgbClr val="2A3E6B"/>
            </a:solidFill>
            <a:prstDash val="solid"/>
          </a:ln>
        </p:spPr>
      </p:sp>
      <p:sp>
        <p:nvSpPr>
          <p:cNvPr id="20" name="Text 17"/>
          <p:cNvSpPr/>
          <p:nvPr/>
        </p:nvSpPr>
        <p:spPr>
          <a:xfrm>
            <a:off x="3584448" y="4544568"/>
            <a:ext cx="2147011" cy="438912"/>
          </a:xfrm>
          <a:prstGeom prst="rect">
            <a:avLst/>
          </a:prstGeom>
          <a:noFill/>
          <a:ln/>
        </p:spPr>
        <p:txBody>
          <a:bodyPr wrap="square" rtlCol="0" anchor="ctr"/>
          <a:lstStyle/>
          <a:p>
            <a:pPr algn="ctr" indent="0" marL="0">
              <a:buNone/>
            </a:pPr>
            <a:r>
              <a:rPr lang="en-US" sz="1150" dirty="0">
                <a:solidFill>
                  <a:srgbClr val="CADCFC"/>
                </a:solidFill>
                <a:latin typeface="Calibri" pitchFamily="34" charset="0"/>
                <a:ea typeface="Calibri" pitchFamily="34" charset="-122"/>
                <a:cs typeface="Calibri" pitchFamily="34" charset="-120"/>
              </a:rPr>
              <a:t>Admin review workflow</a:t>
            </a:r>
            <a:endParaRPr lang="en-US" sz="1150" dirty="0"/>
          </a:p>
        </p:txBody>
      </p:sp>
      <p:sp>
        <p:nvSpPr>
          <p:cNvPr id="21" name="Text 18"/>
          <p:cNvSpPr/>
          <p:nvPr/>
        </p:nvSpPr>
        <p:spPr>
          <a:xfrm>
            <a:off x="0" y="5532120"/>
            <a:ext cx="12191695" cy="365760"/>
          </a:xfrm>
          <a:prstGeom prst="rect">
            <a:avLst/>
          </a:prstGeom>
          <a:noFill/>
          <a:ln/>
        </p:spPr>
        <p:txBody>
          <a:bodyPr wrap="square" rtlCol="0" anchor="ctr"/>
          <a:lstStyle/>
          <a:p>
            <a:pPr algn="ctr" indent="0" marL="0">
              <a:buNone/>
            </a:pPr>
            <a:r>
              <a:rPr lang="en-US" sz="1100" dirty="0">
                <a:solidFill>
                  <a:srgbClr val="8FA0C2"/>
                </a:solidFill>
                <a:latin typeface="Calibri" pitchFamily="34" charset="0"/>
                <a:ea typeface="Calibri" pitchFamily="34" charset="-122"/>
                <a:cs typeface="Calibri" pitchFamily="34" charset="-120"/>
              </a:rPr>
              <a:t>We'll map these screens to the DOST Evaluator's use case diagram right after this demo.</a:t>
            </a:r>
            <a:endParaRPr lang="en-US" sz="1100" dirty="0"/>
          </a:p>
        </p:txBody>
      </p:sp>
      <p:sp>
        <p:nvSpPr>
          <p:cNvPr id="22" name="Text 19"/>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9AA5B8"/>
                </a:solidFill>
                <a:latin typeface="Calibri" pitchFamily="34" charset="0"/>
                <a:ea typeface="Calibri" pitchFamily="34" charset="-122"/>
                <a:cs typeface="Calibri" pitchFamily="34" charset="-120"/>
              </a:rPr>
              <a:t>aiPHeed — DOST Region IV-A Meeting Kit</a:t>
            </a:r>
            <a:endParaRPr lang="en-US" sz="1000" dirty="0"/>
          </a:p>
        </p:txBody>
      </p:sp>
      <p:sp>
        <p:nvSpPr>
          <p:cNvPr id="23" name="Text 20"/>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9AA5B8"/>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04 · DOST'S ROLE &amp; THE QUESTIONNAIRE</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2700" b="1" dirty="0">
                <a:solidFill>
                  <a:srgbClr val="1B1F27"/>
                </a:solidFill>
                <a:latin typeface="Cambria" pitchFamily="34" charset="0"/>
                <a:ea typeface="Cambria" pitchFamily="34" charset="-122"/>
                <a:cs typeface="Cambria" pitchFamily="34" charset="-120"/>
              </a:rPr>
              <a:t>What a DOST Region IV-A Evaluator can do</a:t>
            </a:r>
            <a:endParaRPr lang="en-US" sz="2700" dirty="0"/>
          </a:p>
        </p:txBody>
      </p:sp>
      <p:pic>
        <p:nvPicPr>
          <p:cNvPr id="4" name="Image 0" descr="/tmp/aipheed_pptx/icons/usecase_diagram.png">    </p:cNvPr>
          <p:cNvPicPr>
            <a:picLocks noChangeAspect="1"/>
          </p:cNvPicPr>
          <p:nvPr/>
        </p:nvPicPr>
        <p:blipFill>
          <a:blip r:embed="rId1"/>
          <a:stretch>
            <a:fillRect/>
          </a:stretch>
        </p:blipFill>
        <p:spPr>
          <a:xfrm>
            <a:off x="502920" y="1600200"/>
            <a:ext cx="6537960" cy="5065776"/>
          </a:xfrm>
          <a:prstGeom prst="rect">
            <a:avLst/>
          </a:prstGeom>
        </p:spPr>
      </p:pic>
      <p:sp>
        <p:nvSpPr>
          <p:cNvPr id="5" name="Shape 2"/>
          <p:cNvSpPr/>
          <p:nvPr/>
        </p:nvSpPr>
        <p:spPr>
          <a:xfrm>
            <a:off x="7269480" y="1600200"/>
            <a:ext cx="4297680" cy="2606040"/>
          </a:xfrm>
          <a:prstGeom prst="roundRect">
            <a:avLst>
              <a:gd name="adj" fmla="val 2807"/>
            </a:avLst>
          </a:prstGeom>
          <a:solidFill>
            <a:srgbClr val="F5F7FA"/>
          </a:solidFill>
          <a:ln/>
        </p:spPr>
      </p:sp>
      <p:sp>
        <p:nvSpPr>
          <p:cNvPr id="6" name="Text 3"/>
          <p:cNvSpPr/>
          <p:nvPr/>
        </p:nvSpPr>
        <p:spPr>
          <a:xfrm>
            <a:off x="7498080" y="1737360"/>
            <a:ext cx="3840480" cy="365760"/>
          </a:xfrm>
          <a:prstGeom prst="rect">
            <a:avLst/>
          </a:prstGeom>
          <a:noFill/>
          <a:ln/>
        </p:spPr>
        <p:txBody>
          <a:bodyPr wrap="square" rtlCol="0" anchor="ctr"/>
          <a:lstStyle/>
          <a:p>
            <a:pPr indent="0" marL="0">
              <a:buNone/>
            </a:pPr>
            <a:r>
              <a:rPr lang="en-US" sz="1450" b="1" dirty="0">
                <a:solidFill>
                  <a:srgbClr val="1F3864"/>
                </a:solidFill>
                <a:latin typeface="Calibri" pitchFamily="34" charset="0"/>
                <a:ea typeface="Calibri" pitchFamily="34" charset="-122"/>
                <a:cs typeface="Calibri" pitchFamily="34" charset="-120"/>
              </a:rPr>
              <a:t>DOST Region IV-A Evaluator</a:t>
            </a:r>
            <a:endParaRPr lang="en-US" sz="1450" dirty="0"/>
          </a:p>
        </p:txBody>
      </p:sp>
      <p:sp>
        <p:nvSpPr>
          <p:cNvPr id="7" name="Text 4"/>
          <p:cNvSpPr/>
          <p:nvPr/>
        </p:nvSpPr>
        <p:spPr>
          <a:xfrm>
            <a:off x="7498080" y="2057400"/>
            <a:ext cx="3840480" cy="320040"/>
          </a:xfrm>
          <a:prstGeom prst="rect">
            <a:avLst/>
          </a:prstGeom>
          <a:noFill/>
          <a:ln/>
        </p:spPr>
        <p:txBody>
          <a:bodyPr wrap="square" rtlCol="0" anchor="ctr"/>
          <a:lstStyle/>
          <a:p>
            <a:pPr indent="0" marL="0">
              <a:buNone/>
            </a:pPr>
            <a:r>
              <a:rPr lang="en-US" sz="1050" dirty="0">
                <a:solidFill>
                  <a:srgbClr val="0F7B6C"/>
                </a:solidFill>
                <a:latin typeface="Calibri" pitchFamily="34" charset="0"/>
                <a:ea typeface="Calibri" pitchFamily="34" charset="-122"/>
                <a:cs typeface="Calibri" pitchFamily="34" charset="-120"/>
              </a:rPr>
              <a:t>"The main validating authority of the program"</a:t>
            </a:r>
            <a:endParaRPr lang="en-US" sz="1050" dirty="0"/>
          </a:p>
        </p:txBody>
      </p:sp>
      <p:sp>
        <p:nvSpPr>
          <p:cNvPr id="8" name="Shape 5"/>
          <p:cNvSpPr/>
          <p:nvPr/>
        </p:nvSpPr>
        <p:spPr>
          <a:xfrm>
            <a:off x="7498080" y="2496312"/>
            <a:ext cx="100584" cy="100584"/>
          </a:xfrm>
          <a:prstGeom prst="ellipse">
            <a:avLst/>
          </a:prstGeom>
          <a:solidFill>
            <a:srgbClr val="B7862C"/>
          </a:solidFill>
          <a:ln/>
        </p:spPr>
      </p:sp>
      <p:sp>
        <p:nvSpPr>
          <p:cNvPr id="9" name="Text 6"/>
          <p:cNvSpPr/>
          <p:nvPr/>
        </p:nvSpPr>
        <p:spPr>
          <a:xfrm>
            <a:off x="7726680" y="2395728"/>
            <a:ext cx="3611880" cy="310896"/>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View Province Forecasts</a:t>
            </a:r>
            <a:endParaRPr lang="en-US" sz="1150" dirty="0"/>
          </a:p>
        </p:txBody>
      </p:sp>
      <p:sp>
        <p:nvSpPr>
          <p:cNvPr id="10" name="Shape 7"/>
          <p:cNvSpPr/>
          <p:nvPr/>
        </p:nvSpPr>
        <p:spPr>
          <a:xfrm>
            <a:off x="7498080" y="2839212"/>
            <a:ext cx="100584" cy="100584"/>
          </a:xfrm>
          <a:prstGeom prst="ellipse">
            <a:avLst/>
          </a:prstGeom>
          <a:solidFill>
            <a:srgbClr val="B7862C"/>
          </a:solidFill>
          <a:ln/>
        </p:spPr>
      </p:sp>
      <p:sp>
        <p:nvSpPr>
          <p:cNvPr id="11" name="Text 8"/>
          <p:cNvSpPr/>
          <p:nvPr/>
        </p:nvSpPr>
        <p:spPr>
          <a:xfrm>
            <a:off x="7726680" y="2738628"/>
            <a:ext cx="3611880" cy="310896"/>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Access Municipal/City Risk Rankings</a:t>
            </a:r>
            <a:endParaRPr lang="en-US" sz="1150" dirty="0"/>
          </a:p>
        </p:txBody>
      </p:sp>
      <p:sp>
        <p:nvSpPr>
          <p:cNvPr id="12" name="Shape 9"/>
          <p:cNvSpPr/>
          <p:nvPr/>
        </p:nvSpPr>
        <p:spPr>
          <a:xfrm>
            <a:off x="7498080" y="3182112"/>
            <a:ext cx="100584" cy="100584"/>
          </a:xfrm>
          <a:prstGeom prst="ellipse">
            <a:avLst/>
          </a:prstGeom>
          <a:solidFill>
            <a:srgbClr val="B7862C"/>
          </a:solidFill>
          <a:ln/>
        </p:spPr>
      </p:sp>
      <p:sp>
        <p:nvSpPr>
          <p:cNvPr id="13" name="Text 10"/>
          <p:cNvSpPr/>
          <p:nvPr/>
        </p:nvSpPr>
        <p:spPr>
          <a:xfrm>
            <a:off x="7726680" y="3081528"/>
            <a:ext cx="3611880" cy="310896"/>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View Feature Explanation (SHAP)</a:t>
            </a:r>
            <a:endParaRPr lang="en-US" sz="1150" dirty="0"/>
          </a:p>
        </p:txBody>
      </p:sp>
      <p:sp>
        <p:nvSpPr>
          <p:cNvPr id="14" name="Shape 11"/>
          <p:cNvSpPr/>
          <p:nvPr/>
        </p:nvSpPr>
        <p:spPr>
          <a:xfrm>
            <a:off x="7498080" y="3525012"/>
            <a:ext cx="100584" cy="100584"/>
          </a:xfrm>
          <a:prstGeom prst="ellipse">
            <a:avLst/>
          </a:prstGeom>
          <a:solidFill>
            <a:srgbClr val="B7862C"/>
          </a:solidFill>
          <a:ln/>
        </p:spPr>
      </p:sp>
      <p:sp>
        <p:nvSpPr>
          <p:cNvPr id="15" name="Text 12"/>
          <p:cNvSpPr/>
          <p:nvPr/>
        </p:nvSpPr>
        <p:spPr>
          <a:xfrm>
            <a:off x="7726680" y="3424428"/>
            <a:ext cx="3611880" cy="310896"/>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View Active Early-Warning Alerts</a:t>
            </a:r>
            <a:endParaRPr lang="en-US" sz="1150" dirty="0"/>
          </a:p>
        </p:txBody>
      </p:sp>
      <p:sp>
        <p:nvSpPr>
          <p:cNvPr id="16" name="Shape 13"/>
          <p:cNvSpPr/>
          <p:nvPr/>
        </p:nvSpPr>
        <p:spPr>
          <a:xfrm>
            <a:off x="7498080" y="3867912"/>
            <a:ext cx="100584" cy="100584"/>
          </a:xfrm>
          <a:prstGeom prst="ellipse">
            <a:avLst/>
          </a:prstGeom>
          <a:solidFill>
            <a:srgbClr val="B7862C"/>
          </a:solidFill>
          <a:ln/>
        </p:spPr>
      </p:sp>
      <p:sp>
        <p:nvSpPr>
          <p:cNvPr id="17" name="Text 14"/>
          <p:cNvSpPr/>
          <p:nvPr/>
        </p:nvSpPr>
        <p:spPr>
          <a:xfrm>
            <a:off x="7726680" y="3767328"/>
            <a:ext cx="3611880" cy="310896"/>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View Forecast History</a:t>
            </a:r>
            <a:endParaRPr lang="en-US" sz="1150" dirty="0"/>
          </a:p>
        </p:txBody>
      </p:sp>
      <p:sp>
        <p:nvSpPr>
          <p:cNvPr id="18" name="Shape 15"/>
          <p:cNvSpPr/>
          <p:nvPr/>
        </p:nvSpPr>
        <p:spPr>
          <a:xfrm>
            <a:off x="7269480" y="4434840"/>
            <a:ext cx="4297680" cy="1874520"/>
          </a:xfrm>
          <a:prstGeom prst="roundRect">
            <a:avLst>
              <a:gd name="adj" fmla="val 3902"/>
            </a:avLst>
          </a:prstGeom>
          <a:solidFill>
            <a:srgbClr val="1F3864"/>
          </a:solidFill>
          <a:ln/>
        </p:spPr>
      </p:sp>
      <p:sp>
        <p:nvSpPr>
          <p:cNvPr id="19" name="Text 16"/>
          <p:cNvSpPr/>
          <p:nvPr/>
        </p:nvSpPr>
        <p:spPr>
          <a:xfrm>
            <a:off x="7498080" y="4572000"/>
            <a:ext cx="3840480" cy="274320"/>
          </a:xfrm>
          <a:prstGeom prst="rect">
            <a:avLst/>
          </a:prstGeom>
          <a:noFill/>
          <a:ln/>
        </p:spPr>
        <p:txBody>
          <a:bodyPr wrap="square" rtlCol="0" anchor="ctr"/>
          <a:lstStyle/>
          <a:p>
            <a:pPr indent="0" marL="0">
              <a:buNone/>
            </a:pPr>
            <a:r>
              <a:rPr lang="en-US" sz="1100" b="1" spc="100" kern="0" dirty="0">
                <a:solidFill>
                  <a:srgbClr val="B7862C"/>
                </a:solidFill>
              </a:rPr>
              <a:t>ASK #1</a:t>
            </a:r>
            <a:endParaRPr lang="en-US" sz="1100" dirty="0"/>
          </a:p>
        </p:txBody>
      </p:sp>
      <p:sp>
        <p:nvSpPr>
          <p:cNvPr id="20" name="Text 17"/>
          <p:cNvSpPr/>
          <p:nvPr/>
        </p:nvSpPr>
        <p:spPr>
          <a:xfrm>
            <a:off x="7498080" y="4828032"/>
            <a:ext cx="384048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Validation Partnership</a:t>
            </a:r>
            <a:endParaRPr lang="en-US" sz="1500" dirty="0"/>
          </a:p>
        </p:txBody>
      </p:sp>
      <p:sp>
        <p:nvSpPr>
          <p:cNvPr id="21" name="Text 18"/>
          <p:cNvSpPr/>
          <p:nvPr/>
        </p:nvSpPr>
        <p:spPr>
          <a:xfrm>
            <a:off x="7498080" y="5193792"/>
            <a:ext cx="3840480" cy="1005840"/>
          </a:xfrm>
          <a:prstGeom prst="rect">
            <a:avLst/>
          </a:prstGeom>
          <a:noFill/>
          <a:ln/>
        </p:spPr>
        <p:txBody>
          <a:bodyPr wrap="square" rtlCol="0" anchor="ctr"/>
          <a:lstStyle/>
          <a:p>
            <a:pPr indent="0" marL="0">
              <a:lnSpc>
                <a:spcPct val="125000"/>
              </a:lnSpc>
              <a:buNone/>
            </a:pPr>
            <a:r>
              <a:rPr lang="en-US" sz="1100" dirty="0">
                <a:solidFill>
                  <a:srgbClr val="C7D2E8"/>
                </a:solidFill>
                <a:latin typeface="Calibri" pitchFamily="34" charset="0"/>
                <a:ea typeface="Calibri" pitchFamily="34" charset="-122"/>
                <a:cs typeface="Calibri" pitchFamily="34" charset="-120"/>
              </a:rPr>
              <a:t>DOST's endorsement to formally hold this Evaluator role — reviewing staged forecasts before anything reaches the public.</a:t>
            </a:r>
            <a:endParaRPr lang="en-US" sz="1100" dirty="0"/>
          </a:p>
        </p:txBody>
      </p:sp>
      <p:sp>
        <p:nvSpPr>
          <p:cNvPr id="22" name="Text 19"/>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23" name="Text 20"/>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04 · DOST'S ROLE &amp; THE QUESTIONNAIRE</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2700" b="1" dirty="0">
                <a:solidFill>
                  <a:srgbClr val="1B1F27"/>
                </a:solidFill>
                <a:latin typeface="Cambria" pitchFamily="34" charset="0"/>
                <a:ea typeface="Cambria" pitchFamily="34" charset="-122"/>
                <a:cs typeface="Cambria" pitchFamily="34" charset="-120"/>
              </a:rPr>
              <a:t>The post-testing questionnaire — draft for your review</a:t>
            </a:r>
            <a:endParaRPr lang="en-US" sz="2700" dirty="0"/>
          </a:p>
        </p:txBody>
      </p:sp>
      <p:sp>
        <p:nvSpPr>
          <p:cNvPr id="4" name="Shape 2"/>
          <p:cNvSpPr/>
          <p:nvPr/>
        </p:nvSpPr>
        <p:spPr>
          <a:xfrm>
            <a:off x="640080" y="1737360"/>
            <a:ext cx="5257800" cy="530352"/>
          </a:xfrm>
          <a:prstGeom prst="roundRect">
            <a:avLst>
              <a:gd name="adj" fmla="val 10345"/>
            </a:avLst>
          </a:prstGeom>
          <a:solidFill>
            <a:srgbClr val="F5F7FA"/>
          </a:solidFill>
          <a:ln/>
        </p:spPr>
      </p:sp>
      <p:sp>
        <p:nvSpPr>
          <p:cNvPr id="5" name="Shape 3"/>
          <p:cNvSpPr/>
          <p:nvPr/>
        </p:nvSpPr>
        <p:spPr>
          <a:xfrm>
            <a:off x="777240" y="1847088"/>
            <a:ext cx="310896" cy="310896"/>
          </a:xfrm>
          <a:prstGeom prst="ellipse">
            <a:avLst/>
          </a:prstGeom>
          <a:solidFill>
            <a:srgbClr val="1F3864"/>
          </a:solidFill>
          <a:ln/>
        </p:spPr>
      </p:sp>
      <p:sp>
        <p:nvSpPr>
          <p:cNvPr id="6" name="Text 4"/>
          <p:cNvSpPr/>
          <p:nvPr/>
        </p:nvSpPr>
        <p:spPr>
          <a:xfrm>
            <a:off x="777240" y="1847088"/>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0</a:t>
            </a:r>
            <a:endParaRPr lang="en-US" sz="1200" dirty="0"/>
          </a:p>
        </p:txBody>
      </p:sp>
      <p:sp>
        <p:nvSpPr>
          <p:cNvPr id="7" name="Text 5"/>
          <p:cNvSpPr/>
          <p:nvPr/>
        </p:nvSpPr>
        <p:spPr>
          <a:xfrm>
            <a:off x="1207008" y="1764792"/>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Consent</a:t>
            </a:r>
            <a:endParaRPr lang="en-US" sz="1200" dirty="0"/>
          </a:p>
        </p:txBody>
      </p:sp>
      <p:sp>
        <p:nvSpPr>
          <p:cNvPr id="8" name="Text 6"/>
          <p:cNvSpPr/>
          <p:nvPr/>
        </p:nvSpPr>
        <p:spPr>
          <a:xfrm>
            <a:off x="1207008" y="2011680"/>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Purpose, RA 10173 confidentiality, voluntary participation</a:t>
            </a:r>
            <a:endParaRPr lang="en-US" sz="950" dirty="0"/>
          </a:p>
        </p:txBody>
      </p:sp>
      <p:sp>
        <p:nvSpPr>
          <p:cNvPr id="9" name="Shape 7"/>
          <p:cNvSpPr/>
          <p:nvPr/>
        </p:nvSpPr>
        <p:spPr>
          <a:xfrm>
            <a:off x="640080" y="2359152"/>
            <a:ext cx="5257800" cy="530352"/>
          </a:xfrm>
          <a:prstGeom prst="roundRect">
            <a:avLst>
              <a:gd name="adj" fmla="val 10345"/>
            </a:avLst>
          </a:prstGeom>
          <a:solidFill>
            <a:srgbClr val="FFFFFF"/>
          </a:solidFill>
          <a:ln/>
        </p:spPr>
      </p:sp>
      <p:sp>
        <p:nvSpPr>
          <p:cNvPr id="10" name="Shape 8"/>
          <p:cNvSpPr/>
          <p:nvPr/>
        </p:nvSpPr>
        <p:spPr>
          <a:xfrm>
            <a:off x="777240" y="2468880"/>
            <a:ext cx="310896" cy="310896"/>
          </a:xfrm>
          <a:prstGeom prst="ellipse">
            <a:avLst/>
          </a:prstGeom>
          <a:solidFill>
            <a:srgbClr val="1F3864"/>
          </a:solidFill>
          <a:ln/>
        </p:spPr>
      </p:sp>
      <p:sp>
        <p:nvSpPr>
          <p:cNvPr id="11" name="Text 9"/>
          <p:cNvSpPr/>
          <p:nvPr/>
        </p:nvSpPr>
        <p:spPr>
          <a:xfrm>
            <a:off x="777240" y="2468880"/>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1</a:t>
            </a:r>
            <a:endParaRPr lang="en-US" sz="1200" dirty="0"/>
          </a:p>
        </p:txBody>
      </p:sp>
      <p:sp>
        <p:nvSpPr>
          <p:cNvPr id="12" name="Text 10"/>
          <p:cNvSpPr/>
          <p:nvPr/>
        </p:nvSpPr>
        <p:spPr>
          <a:xfrm>
            <a:off x="1207008" y="2386584"/>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Profile</a:t>
            </a:r>
            <a:endParaRPr lang="en-US" sz="1200" dirty="0"/>
          </a:p>
        </p:txBody>
      </p:sp>
      <p:sp>
        <p:nvSpPr>
          <p:cNvPr id="13" name="Text 11"/>
          <p:cNvSpPr/>
          <p:nvPr/>
        </p:nvSpPr>
        <p:spPr>
          <a:xfrm>
            <a:off x="1207008" y="2633472"/>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Respondent group, division, experience</a:t>
            </a:r>
            <a:endParaRPr lang="en-US" sz="950" dirty="0"/>
          </a:p>
        </p:txBody>
      </p:sp>
      <p:sp>
        <p:nvSpPr>
          <p:cNvPr id="14" name="Shape 12"/>
          <p:cNvSpPr/>
          <p:nvPr/>
        </p:nvSpPr>
        <p:spPr>
          <a:xfrm>
            <a:off x="640080" y="2980944"/>
            <a:ext cx="5257800" cy="530352"/>
          </a:xfrm>
          <a:prstGeom prst="roundRect">
            <a:avLst>
              <a:gd name="adj" fmla="val 10345"/>
            </a:avLst>
          </a:prstGeom>
          <a:solidFill>
            <a:srgbClr val="F5F7FA"/>
          </a:solidFill>
          <a:ln/>
        </p:spPr>
      </p:sp>
      <p:sp>
        <p:nvSpPr>
          <p:cNvPr id="15" name="Shape 13"/>
          <p:cNvSpPr/>
          <p:nvPr/>
        </p:nvSpPr>
        <p:spPr>
          <a:xfrm>
            <a:off x="777240" y="3090672"/>
            <a:ext cx="310896" cy="310896"/>
          </a:xfrm>
          <a:prstGeom prst="ellipse">
            <a:avLst/>
          </a:prstGeom>
          <a:solidFill>
            <a:srgbClr val="1F3864"/>
          </a:solidFill>
          <a:ln/>
        </p:spPr>
      </p:sp>
      <p:sp>
        <p:nvSpPr>
          <p:cNvPr id="16" name="Text 14"/>
          <p:cNvSpPr/>
          <p:nvPr/>
        </p:nvSpPr>
        <p:spPr>
          <a:xfrm>
            <a:off x="777240" y="3090672"/>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2</a:t>
            </a:r>
            <a:endParaRPr lang="en-US" sz="1200" dirty="0"/>
          </a:p>
        </p:txBody>
      </p:sp>
      <p:sp>
        <p:nvSpPr>
          <p:cNvPr id="17" name="Text 15"/>
          <p:cNvSpPr/>
          <p:nvPr/>
        </p:nvSpPr>
        <p:spPr>
          <a:xfrm>
            <a:off x="1207008" y="3008376"/>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Forecast Accuracy &amp; Relevance</a:t>
            </a:r>
            <a:endParaRPr lang="en-US" sz="1200" dirty="0"/>
          </a:p>
        </p:txBody>
      </p:sp>
      <p:sp>
        <p:nvSpPr>
          <p:cNvPr id="18" name="Text 16"/>
          <p:cNvSpPr/>
          <p:nvPr/>
        </p:nvSpPr>
        <p:spPr>
          <a:xfrm>
            <a:off x="1207008" y="3255264"/>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5 Likert items</a:t>
            </a:r>
            <a:endParaRPr lang="en-US" sz="950" dirty="0"/>
          </a:p>
        </p:txBody>
      </p:sp>
      <p:sp>
        <p:nvSpPr>
          <p:cNvPr id="19" name="Shape 17"/>
          <p:cNvSpPr/>
          <p:nvPr/>
        </p:nvSpPr>
        <p:spPr>
          <a:xfrm>
            <a:off x="640080" y="3602736"/>
            <a:ext cx="5257800" cy="530352"/>
          </a:xfrm>
          <a:prstGeom prst="roundRect">
            <a:avLst>
              <a:gd name="adj" fmla="val 10345"/>
            </a:avLst>
          </a:prstGeom>
          <a:solidFill>
            <a:srgbClr val="FFFFFF"/>
          </a:solidFill>
          <a:ln/>
        </p:spPr>
      </p:sp>
      <p:sp>
        <p:nvSpPr>
          <p:cNvPr id="20" name="Shape 18"/>
          <p:cNvSpPr/>
          <p:nvPr/>
        </p:nvSpPr>
        <p:spPr>
          <a:xfrm>
            <a:off x="777240" y="3712464"/>
            <a:ext cx="310896" cy="310896"/>
          </a:xfrm>
          <a:prstGeom prst="ellipse">
            <a:avLst/>
          </a:prstGeom>
          <a:solidFill>
            <a:srgbClr val="1F3864"/>
          </a:solidFill>
          <a:ln/>
        </p:spPr>
      </p:sp>
      <p:sp>
        <p:nvSpPr>
          <p:cNvPr id="21" name="Text 19"/>
          <p:cNvSpPr/>
          <p:nvPr/>
        </p:nvSpPr>
        <p:spPr>
          <a:xfrm>
            <a:off x="777240" y="3712464"/>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3</a:t>
            </a:r>
            <a:endParaRPr lang="en-US" sz="1200" dirty="0"/>
          </a:p>
        </p:txBody>
      </p:sp>
      <p:sp>
        <p:nvSpPr>
          <p:cNvPr id="22" name="Text 20"/>
          <p:cNvSpPr/>
          <p:nvPr/>
        </p:nvSpPr>
        <p:spPr>
          <a:xfrm>
            <a:off x="1207008" y="3630168"/>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Functionality</a:t>
            </a:r>
            <a:endParaRPr lang="en-US" sz="1200" dirty="0"/>
          </a:p>
        </p:txBody>
      </p:sp>
      <p:sp>
        <p:nvSpPr>
          <p:cNvPr id="23" name="Text 21"/>
          <p:cNvSpPr/>
          <p:nvPr/>
        </p:nvSpPr>
        <p:spPr>
          <a:xfrm>
            <a:off x="1207008" y="3877056"/>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4 Likert items</a:t>
            </a:r>
            <a:endParaRPr lang="en-US" sz="950" dirty="0"/>
          </a:p>
        </p:txBody>
      </p:sp>
      <p:sp>
        <p:nvSpPr>
          <p:cNvPr id="24" name="Shape 22"/>
          <p:cNvSpPr/>
          <p:nvPr/>
        </p:nvSpPr>
        <p:spPr>
          <a:xfrm>
            <a:off x="6263640" y="1737360"/>
            <a:ext cx="5257800" cy="530352"/>
          </a:xfrm>
          <a:prstGeom prst="roundRect">
            <a:avLst>
              <a:gd name="adj" fmla="val 10345"/>
            </a:avLst>
          </a:prstGeom>
          <a:solidFill>
            <a:srgbClr val="F5F7FA"/>
          </a:solidFill>
          <a:ln/>
        </p:spPr>
      </p:sp>
      <p:sp>
        <p:nvSpPr>
          <p:cNvPr id="25" name="Shape 23"/>
          <p:cNvSpPr/>
          <p:nvPr/>
        </p:nvSpPr>
        <p:spPr>
          <a:xfrm>
            <a:off x="6400800" y="1847088"/>
            <a:ext cx="310896" cy="310896"/>
          </a:xfrm>
          <a:prstGeom prst="ellipse">
            <a:avLst/>
          </a:prstGeom>
          <a:solidFill>
            <a:srgbClr val="1F3864"/>
          </a:solidFill>
          <a:ln/>
        </p:spPr>
      </p:sp>
      <p:sp>
        <p:nvSpPr>
          <p:cNvPr id="26" name="Text 24"/>
          <p:cNvSpPr/>
          <p:nvPr/>
        </p:nvSpPr>
        <p:spPr>
          <a:xfrm>
            <a:off x="6400800" y="1847088"/>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4</a:t>
            </a:r>
            <a:endParaRPr lang="en-US" sz="1200" dirty="0"/>
          </a:p>
        </p:txBody>
      </p:sp>
      <p:sp>
        <p:nvSpPr>
          <p:cNvPr id="27" name="Text 25"/>
          <p:cNvSpPr/>
          <p:nvPr/>
        </p:nvSpPr>
        <p:spPr>
          <a:xfrm>
            <a:off x="6830568" y="1764792"/>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Usability (ISO/IEC 25010)</a:t>
            </a:r>
            <a:endParaRPr lang="en-US" sz="1200" dirty="0"/>
          </a:p>
        </p:txBody>
      </p:sp>
      <p:sp>
        <p:nvSpPr>
          <p:cNvPr id="28" name="Text 26"/>
          <p:cNvSpPr/>
          <p:nvPr/>
        </p:nvSpPr>
        <p:spPr>
          <a:xfrm>
            <a:off x="6830568" y="2011680"/>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6 Likert items</a:t>
            </a:r>
            <a:endParaRPr lang="en-US" sz="950" dirty="0"/>
          </a:p>
        </p:txBody>
      </p:sp>
      <p:sp>
        <p:nvSpPr>
          <p:cNvPr id="29" name="Shape 27"/>
          <p:cNvSpPr/>
          <p:nvPr/>
        </p:nvSpPr>
        <p:spPr>
          <a:xfrm>
            <a:off x="6263640" y="2359152"/>
            <a:ext cx="5257800" cy="530352"/>
          </a:xfrm>
          <a:prstGeom prst="roundRect">
            <a:avLst>
              <a:gd name="adj" fmla="val 10345"/>
            </a:avLst>
          </a:prstGeom>
          <a:solidFill>
            <a:srgbClr val="FFFFFF"/>
          </a:solidFill>
          <a:ln/>
        </p:spPr>
      </p:sp>
      <p:sp>
        <p:nvSpPr>
          <p:cNvPr id="30" name="Shape 28"/>
          <p:cNvSpPr/>
          <p:nvPr/>
        </p:nvSpPr>
        <p:spPr>
          <a:xfrm>
            <a:off x="6400800" y="2468880"/>
            <a:ext cx="310896" cy="310896"/>
          </a:xfrm>
          <a:prstGeom prst="ellipse">
            <a:avLst/>
          </a:prstGeom>
          <a:solidFill>
            <a:srgbClr val="1F3864"/>
          </a:solidFill>
          <a:ln/>
        </p:spPr>
      </p:sp>
      <p:sp>
        <p:nvSpPr>
          <p:cNvPr id="31" name="Text 29"/>
          <p:cNvSpPr/>
          <p:nvPr/>
        </p:nvSpPr>
        <p:spPr>
          <a:xfrm>
            <a:off x="6400800" y="2468880"/>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5</a:t>
            </a:r>
            <a:endParaRPr lang="en-US" sz="1200" dirty="0"/>
          </a:p>
        </p:txBody>
      </p:sp>
      <p:sp>
        <p:nvSpPr>
          <p:cNvPr id="32" name="Text 30"/>
          <p:cNvSpPr/>
          <p:nvPr/>
        </p:nvSpPr>
        <p:spPr>
          <a:xfrm>
            <a:off x="6830568" y="2386584"/>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Alignment with DOST Ops</a:t>
            </a:r>
            <a:endParaRPr lang="en-US" sz="1200" dirty="0"/>
          </a:p>
        </p:txBody>
      </p:sp>
      <p:sp>
        <p:nvSpPr>
          <p:cNvPr id="33" name="Text 31"/>
          <p:cNvSpPr/>
          <p:nvPr/>
        </p:nvSpPr>
        <p:spPr>
          <a:xfrm>
            <a:off x="6830568" y="2633472"/>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4 Likert items — DOST-focused</a:t>
            </a:r>
            <a:endParaRPr lang="en-US" sz="950" dirty="0"/>
          </a:p>
        </p:txBody>
      </p:sp>
      <p:sp>
        <p:nvSpPr>
          <p:cNvPr id="34" name="Shape 32"/>
          <p:cNvSpPr/>
          <p:nvPr/>
        </p:nvSpPr>
        <p:spPr>
          <a:xfrm>
            <a:off x="6263640" y="2980944"/>
            <a:ext cx="5257800" cy="530352"/>
          </a:xfrm>
          <a:prstGeom prst="roundRect">
            <a:avLst>
              <a:gd name="adj" fmla="val 10345"/>
            </a:avLst>
          </a:prstGeom>
          <a:solidFill>
            <a:srgbClr val="F5F7FA"/>
          </a:solidFill>
          <a:ln/>
        </p:spPr>
      </p:sp>
      <p:sp>
        <p:nvSpPr>
          <p:cNvPr id="35" name="Shape 33"/>
          <p:cNvSpPr/>
          <p:nvPr/>
        </p:nvSpPr>
        <p:spPr>
          <a:xfrm>
            <a:off x="6400800" y="3090672"/>
            <a:ext cx="310896" cy="310896"/>
          </a:xfrm>
          <a:prstGeom prst="ellipse">
            <a:avLst/>
          </a:prstGeom>
          <a:solidFill>
            <a:srgbClr val="1F3864"/>
          </a:solidFill>
          <a:ln/>
        </p:spPr>
      </p:sp>
      <p:sp>
        <p:nvSpPr>
          <p:cNvPr id="36" name="Text 34"/>
          <p:cNvSpPr/>
          <p:nvPr/>
        </p:nvSpPr>
        <p:spPr>
          <a:xfrm>
            <a:off x="6400800" y="3090672"/>
            <a:ext cx="310896" cy="310896"/>
          </a:xfrm>
          <a:prstGeom prst="rect">
            <a:avLst/>
          </a:prstGeom>
          <a:noFill/>
          <a:ln/>
        </p:spPr>
        <p:txBody>
          <a:bodyPr wrap="square" rtlCol="0" anchor="ctr"/>
          <a:lstStyle/>
          <a:p>
            <a:pPr algn="ctr" indent="0" marL="0">
              <a:buNone/>
            </a:pPr>
            <a:r>
              <a:rPr lang="en-US" sz="1200" b="1" dirty="0">
                <a:solidFill>
                  <a:srgbClr val="FFFFFF"/>
                </a:solidFill>
                <a:latin typeface="Cambria" pitchFamily="34" charset="0"/>
                <a:ea typeface="Cambria" pitchFamily="34" charset="-122"/>
                <a:cs typeface="Cambria" pitchFamily="34" charset="-120"/>
              </a:rPr>
              <a:t>6</a:t>
            </a:r>
            <a:endParaRPr lang="en-US" sz="1200" dirty="0"/>
          </a:p>
        </p:txBody>
      </p:sp>
      <p:sp>
        <p:nvSpPr>
          <p:cNvPr id="37" name="Text 35"/>
          <p:cNvSpPr/>
          <p:nvPr/>
        </p:nvSpPr>
        <p:spPr>
          <a:xfrm>
            <a:off x="6830568" y="3008376"/>
            <a:ext cx="4480560" cy="274320"/>
          </a:xfrm>
          <a:prstGeom prst="rect">
            <a:avLst/>
          </a:prstGeom>
          <a:noFill/>
          <a:ln/>
        </p:spPr>
        <p:txBody>
          <a:bodyPr wrap="square" rtlCol="0" anchor="ctr"/>
          <a:lstStyle/>
          <a:p>
            <a:pPr indent="0" marL="0">
              <a:buNone/>
            </a:pPr>
            <a:r>
              <a:rPr lang="en-US" sz="1200" b="1" dirty="0">
                <a:solidFill>
                  <a:srgbClr val="1B1F27"/>
                </a:solidFill>
                <a:latin typeface="Calibri" pitchFamily="34" charset="0"/>
                <a:ea typeface="Calibri" pitchFamily="34" charset="-122"/>
                <a:cs typeface="Calibri" pitchFamily="34" charset="-120"/>
              </a:rPr>
              <a:t>Open-ended</a:t>
            </a:r>
            <a:endParaRPr lang="en-US" sz="1200" dirty="0"/>
          </a:p>
        </p:txBody>
      </p:sp>
      <p:sp>
        <p:nvSpPr>
          <p:cNvPr id="38" name="Text 36"/>
          <p:cNvSpPr/>
          <p:nvPr/>
        </p:nvSpPr>
        <p:spPr>
          <a:xfrm>
            <a:off x="6830568" y="3255264"/>
            <a:ext cx="4480560" cy="237744"/>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4 free-text items</a:t>
            </a:r>
            <a:endParaRPr lang="en-US" sz="950" dirty="0"/>
          </a:p>
        </p:txBody>
      </p:sp>
      <p:sp>
        <p:nvSpPr>
          <p:cNvPr id="39" name="Shape 37"/>
          <p:cNvSpPr/>
          <p:nvPr/>
        </p:nvSpPr>
        <p:spPr>
          <a:xfrm>
            <a:off x="6446520" y="3675888"/>
            <a:ext cx="5074920" cy="621792"/>
          </a:xfrm>
          <a:prstGeom prst="roundRect">
            <a:avLst>
              <a:gd name="adj" fmla="val 8824"/>
            </a:avLst>
          </a:prstGeom>
          <a:solidFill>
            <a:srgbClr val="0F7B6C"/>
          </a:solidFill>
          <a:ln/>
        </p:spPr>
      </p:sp>
      <p:sp>
        <p:nvSpPr>
          <p:cNvPr id="40" name="Text 38"/>
          <p:cNvSpPr/>
          <p:nvPr/>
        </p:nvSpPr>
        <p:spPr>
          <a:xfrm>
            <a:off x="6629400" y="3675888"/>
            <a:ext cx="4709160" cy="62179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19 Likert items + 4 open-ended · ~10–15 min to answer</a:t>
            </a:r>
            <a:endParaRPr lang="en-US" sz="1200" dirty="0"/>
          </a:p>
        </p:txBody>
      </p:sp>
      <p:sp>
        <p:nvSpPr>
          <p:cNvPr id="41" name="Shape 39"/>
          <p:cNvSpPr/>
          <p:nvPr/>
        </p:nvSpPr>
        <p:spPr>
          <a:xfrm>
            <a:off x="640080" y="4663440"/>
            <a:ext cx="10881360" cy="1600200"/>
          </a:xfrm>
          <a:prstGeom prst="roundRect">
            <a:avLst>
              <a:gd name="adj" fmla="val 4571"/>
            </a:avLst>
          </a:prstGeom>
          <a:solidFill>
            <a:srgbClr val="1F3864"/>
          </a:solidFill>
          <a:ln/>
        </p:spPr>
      </p:sp>
      <p:sp>
        <p:nvSpPr>
          <p:cNvPr id="42" name="Text 40"/>
          <p:cNvSpPr/>
          <p:nvPr/>
        </p:nvSpPr>
        <p:spPr>
          <a:xfrm>
            <a:off x="868680" y="4791456"/>
            <a:ext cx="2743200" cy="274320"/>
          </a:xfrm>
          <a:prstGeom prst="rect">
            <a:avLst/>
          </a:prstGeom>
          <a:noFill/>
          <a:ln/>
        </p:spPr>
        <p:txBody>
          <a:bodyPr wrap="square" rtlCol="0" anchor="ctr"/>
          <a:lstStyle/>
          <a:p>
            <a:pPr indent="0" marL="0">
              <a:buNone/>
            </a:pPr>
            <a:r>
              <a:rPr lang="en-US" sz="1100" b="1" spc="100" kern="0" dirty="0">
                <a:solidFill>
                  <a:srgbClr val="B7862C"/>
                </a:solidFill>
              </a:rPr>
              <a:t>ASK #2</a:t>
            </a:r>
            <a:endParaRPr lang="en-US" sz="1100" dirty="0"/>
          </a:p>
        </p:txBody>
      </p:sp>
      <p:sp>
        <p:nvSpPr>
          <p:cNvPr id="43" name="Text 41"/>
          <p:cNvSpPr/>
          <p:nvPr/>
        </p:nvSpPr>
        <p:spPr>
          <a:xfrm>
            <a:off x="868680" y="5029200"/>
            <a:ext cx="365760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Post-Testing Evaluators</a:t>
            </a:r>
            <a:endParaRPr lang="en-US" sz="1500" dirty="0"/>
          </a:p>
        </p:txBody>
      </p:sp>
      <p:sp>
        <p:nvSpPr>
          <p:cNvPr id="44" name="Text 42"/>
          <p:cNvSpPr/>
          <p:nvPr/>
        </p:nvSpPr>
        <p:spPr>
          <a:xfrm>
            <a:off x="868680" y="5358384"/>
            <a:ext cx="5394960" cy="777240"/>
          </a:xfrm>
          <a:prstGeom prst="rect">
            <a:avLst/>
          </a:prstGeom>
          <a:noFill/>
          <a:ln/>
        </p:spPr>
        <p:txBody>
          <a:bodyPr wrap="square" rtlCol="0" anchor="ctr"/>
          <a:lstStyle/>
          <a:p>
            <a:pPr indent="0" marL="0">
              <a:lnSpc>
                <a:spcPct val="125000"/>
              </a:lnSpc>
              <a:buNone/>
            </a:pPr>
            <a:r>
              <a:rPr lang="en-US" sz="1050" dirty="0">
                <a:solidFill>
                  <a:srgbClr val="C7D2E8"/>
                </a:solidFill>
                <a:latin typeface="Calibri" pitchFamily="34" charset="0"/>
                <a:ea typeface="Calibri" pitchFamily="34" charset="-122"/>
                <a:cs typeface="Calibri" pitchFamily="34" charset="-120"/>
              </a:rPr>
              <a:t>~30 DOST Region IV-A staff (Technical Operations, ICT/GIS, S&amp;T project evaluation) to review this draft now, then answer the finalized form once real forecasts are live (not the mock data shown today).</a:t>
            </a:r>
            <a:endParaRPr lang="en-US" sz="1050" dirty="0"/>
          </a:p>
        </p:txBody>
      </p:sp>
      <p:sp>
        <p:nvSpPr>
          <p:cNvPr id="45" name="Shape 43"/>
          <p:cNvSpPr/>
          <p:nvPr/>
        </p:nvSpPr>
        <p:spPr>
          <a:xfrm>
            <a:off x="6492240" y="4846320"/>
            <a:ext cx="0" cy="1234440"/>
          </a:xfrm>
          <a:prstGeom prst="line">
            <a:avLst/>
          </a:prstGeom>
          <a:noFill/>
          <a:ln w="12700">
            <a:solidFill>
              <a:srgbClr val="2A3E6B"/>
            </a:solidFill>
            <a:prstDash val="solid"/>
          </a:ln>
        </p:spPr>
      </p:sp>
      <p:sp>
        <p:nvSpPr>
          <p:cNvPr id="46" name="Text 44"/>
          <p:cNvSpPr/>
          <p:nvPr/>
        </p:nvSpPr>
        <p:spPr>
          <a:xfrm>
            <a:off x="6720840" y="4892040"/>
            <a:ext cx="4617720" cy="1188720"/>
          </a:xfrm>
          <a:prstGeom prst="rect">
            <a:avLst/>
          </a:prstGeom>
          <a:noFill/>
          <a:ln/>
        </p:spPr>
        <p:txBody>
          <a:bodyPr wrap="square" rtlCol="0" anchor="ctr"/>
          <a:lstStyle/>
          <a:p>
            <a:pPr indent="0" marL="0">
              <a:lnSpc>
                <a:spcPct val="130000"/>
              </a:lnSpc>
              <a:buNone/>
            </a:pPr>
            <a:r>
              <a:rPr lang="en-US" sz="1100" dirty="0">
                <a:solidFill>
                  <a:srgbClr val="E6ECF7"/>
                </a:solidFill>
                <a:latin typeface="Calibri" pitchFamily="34" charset="0"/>
                <a:ea typeface="Calibri" pitchFamily="34" charset="-122"/>
                <a:cs typeface="Calibri" pitchFamily="34" charset="-120"/>
              </a:rPr>
              <a:t>No separate pre-questionnaire needed — this meeting/interview (Segment 06) already covers baseline needs &amp; suggested features.</a:t>
            </a:r>
            <a:endParaRPr lang="en-US" sz="1100" dirty="0"/>
          </a:p>
        </p:txBody>
      </p:sp>
      <p:sp>
        <p:nvSpPr>
          <p:cNvPr id="47" name="Text 45"/>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48" name="Text 46"/>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05 · DATA VALIDATION &amp; ANNOTATION</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2700" b="1" dirty="0">
                <a:solidFill>
                  <a:srgbClr val="1B1F27"/>
                </a:solidFill>
                <a:latin typeface="Cambria" pitchFamily="34" charset="0"/>
                <a:ea typeface="Cambria" pitchFamily="34" charset="-122"/>
                <a:cs typeface="Cambria" pitchFamily="34" charset="-120"/>
              </a:rPr>
              <a:t>Public data in, expert eyes on a sample out</a:t>
            </a:r>
            <a:endParaRPr lang="en-US" sz="2700" dirty="0"/>
          </a:p>
        </p:txBody>
      </p:sp>
      <p:sp>
        <p:nvSpPr>
          <p:cNvPr id="4" name="Shape 2"/>
          <p:cNvSpPr/>
          <p:nvPr/>
        </p:nvSpPr>
        <p:spPr>
          <a:xfrm>
            <a:off x="640080" y="1737360"/>
            <a:ext cx="4160520" cy="4572000"/>
          </a:xfrm>
          <a:prstGeom prst="roundRect">
            <a:avLst>
              <a:gd name="adj" fmla="val 1758"/>
            </a:avLst>
          </a:prstGeom>
          <a:solidFill>
            <a:srgbClr val="1F3864"/>
          </a:solidFill>
          <a:ln/>
        </p:spPr>
      </p:sp>
      <p:sp>
        <p:nvSpPr>
          <p:cNvPr id="5" name="Shape 3"/>
          <p:cNvSpPr/>
          <p:nvPr/>
        </p:nvSpPr>
        <p:spPr>
          <a:xfrm>
            <a:off x="914400" y="1965960"/>
            <a:ext cx="640080" cy="640080"/>
          </a:xfrm>
          <a:prstGeom prst="ellipse">
            <a:avLst/>
          </a:prstGeom>
          <a:solidFill>
            <a:srgbClr val="0F7B6C"/>
          </a:solidFill>
          <a:ln/>
        </p:spPr>
      </p:sp>
      <p:pic>
        <p:nvPicPr>
          <p:cNvPr id="6" name="Image 0" descr="/tmp/aipheed_pptx/icons/shieldCheck.png">    </p:cNvPr>
          <p:cNvPicPr>
            <a:picLocks noChangeAspect="1"/>
          </p:cNvPicPr>
          <p:nvPr/>
        </p:nvPicPr>
        <p:blipFill>
          <a:blip r:embed="rId1"/>
          <a:stretch>
            <a:fillRect/>
          </a:stretch>
        </p:blipFill>
        <p:spPr>
          <a:xfrm>
            <a:off x="1060704" y="2112264"/>
            <a:ext cx="347472" cy="347472"/>
          </a:xfrm>
          <a:prstGeom prst="rect">
            <a:avLst/>
          </a:prstGeom>
        </p:spPr>
      </p:pic>
      <p:sp>
        <p:nvSpPr>
          <p:cNvPr id="7" name="Text 4"/>
          <p:cNvSpPr/>
          <p:nvPr/>
        </p:nvSpPr>
        <p:spPr>
          <a:xfrm>
            <a:off x="1737360" y="1947672"/>
            <a:ext cx="2926080" cy="36576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Nothing requested from DOST</a:t>
            </a:r>
            <a:endParaRPr lang="en-US" sz="1350" dirty="0"/>
          </a:p>
        </p:txBody>
      </p:sp>
      <p:sp>
        <p:nvSpPr>
          <p:cNvPr id="8" name="Text 5"/>
          <p:cNvSpPr/>
          <p:nvPr/>
        </p:nvSpPr>
        <p:spPr>
          <a:xfrm>
            <a:off x="1737360" y="2286000"/>
            <a:ext cx="2926080" cy="274320"/>
          </a:xfrm>
          <a:prstGeom prst="rect">
            <a:avLst/>
          </a:prstGeom>
          <a:noFill/>
          <a:ln/>
        </p:spPr>
        <p:txBody>
          <a:bodyPr wrap="square" rtlCol="0" anchor="ctr"/>
          <a:lstStyle/>
          <a:p>
            <a:pPr indent="0" marL="0">
              <a:buNone/>
            </a:pPr>
            <a:r>
              <a:rPr lang="en-US" sz="950" dirty="0">
                <a:solidFill>
                  <a:srgbClr val="8FA0C2"/>
                </a:solidFill>
                <a:latin typeface="Calibri" pitchFamily="34" charset="0"/>
                <a:ea typeface="Calibri" pitchFamily="34" charset="-122"/>
                <a:cs typeface="Calibri" pitchFamily="34" charset="-120"/>
              </a:rPr>
              <a:t>real data, already collected</a:t>
            </a:r>
            <a:endParaRPr lang="en-US" sz="950" dirty="0"/>
          </a:p>
        </p:txBody>
      </p:sp>
      <p:sp>
        <p:nvSpPr>
          <p:cNvPr id="9" name="Shape 6"/>
          <p:cNvSpPr/>
          <p:nvPr/>
        </p:nvSpPr>
        <p:spPr>
          <a:xfrm>
            <a:off x="914400" y="2788920"/>
            <a:ext cx="3611880" cy="777240"/>
          </a:xfrm>
          <a:prstGeom prst="roundRect">
            <a:avLst>
              <a:gd name="adj" fmla="val 7059"/>
            </a:avLst>
          </a:prstGeom>
          <a:solidFill>
            <a:srgbClr val="16294A"/>
          </a:solidFill>
          <a:ln w="12700">
            <a:solidFill>
              <a:srgbClr val="2A3E6B"/>
            </a:solidFill>
            <a:prstDash val="solid"/>
          </a:ln>
        </p:spPr>
      </p:sp>
      <p:sp>
        <p:nvSpPr>
          <p:cNvPr id="10" name="Text 7"/>
          <p:cNvSpPr/>
          <p:nvPr/>
        </p:nvSpPr>
        <p:spPr>
          <a:xfrm>
            <a:off x="1097280" y="2788920"/>
            <a:ext cx="3246120" cy="777240"/>
          </a:xfrm>
          <a:prstGeom prst="rect">
            <a:avLst/>
          </a:prstGeom>
          <a:noFill/>
          <a:ln/>
        </p:spPr>
        <p:txBody>
          <a:bodyPr wrap="square"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17,791 news articles</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(RSS / Google News / GDELT)</a:t>
            </a:r>
            <a:endParaRPr lang="en-US" sz="1100" dirty="0"/>
          </a:p>
        </p:txBody>
      </p:sp>
      <p:sp>
        <p:nvSpPr>
          <p:cNvPr id="11" name="Shape 8"/>
          <p:cNvSpPr/>
          <p:nvPr/>
        </p:nvSpPr>
        <p:spPr>
          <a:xfrm>
            <a:off x="914400" y="3703320"/>
            <a:ext cx="3611880" cy="777240"/>
          </a:xfrm>
          <a:prstGeom prst="roundRect">
            <a:avLst>
              <a:gd name="adj" fmla="val 7059"/>
            </a:avLst>
          </a:prstGeom>
          <a:solidFill>
            <a:srgbClr val="16294A"/>
          </a:solidFill>
          <a:ln w="12700">
            <a:solidFill>
              <a:srgbClr val="2A3E6B"/>
            </a:solidFill>
            <a:prstDash val="solid"/>
          </a:ln>
        </p:spPr>
      </p:sp>
      <p:sp>
        <p:nvSpPr>
          <p:cNvPr id="12" name="Text 9"/>
          <p:cNvSpPr/>
          <p:nvPr/>
        </p:nvSpPr>
        <p:spPr>
          <a:xfrm>
            <a:off x="1097280" y="3703320"/>
            <a:ext cx="3246120" cy="777240"/>
          </a:xfrm>
          <a:prstGeom prst="rect">
            <a:avLst/>
          </a:prstGeom>
          <a:noFill/>
          <a:ln/>
        </p:spPr>
        <p:txBody>
          <a:bodyPr wrap="square" rtlCol="0" anchor="ctr"/>
          <a:lstStyle/>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~2,732 gov't datasets</a:t>
            </a:r>
            <a:endParaRPr lang="en-US" sz="1100" dirty="0"/>
          </a:p>
          <a:p>
            <a:pPr indent="0" marL="0">
              <a:lnSpc>
                <a:spcPct val="120000"/>
              </a:lnSpc>
              <a:buNone/>
            </a:pPr>
            <a:r>
              <a:rPr lang="en-US" sz="1100" dirty="0">
                <a:solidFill>
                  <a:srgbClr val="CADCFC"/>
                </a:solidFill>
                <a:latin typeface="Calibri" pitchFamily="34" charset="0"/>
                <a:ea typeface="Calibri" pitchFamily="34" charset="-122"/>
                <a:cs typeface="Calibri" pitchFamily="34" charset="-120"/>
              </a:rPr>
              <a:t>(PSA, BSP, DOE, PAGASA, PhilRice, SWS)</a:t>
            </a:r>
            <a:endParaRPr lang="en-US" sz="1100" dirty="0"/>
          </a:p>
        </p:txBody>
      </p:sp>
      <p:sp>
        <p:nvSpPr>
          <p:cNvPr id="13" name="Text 10"/>
          <p:cNvSpPr/>
          <p:nvPr/>
        </p:nvSpPr>
        <p:spPr>
          <a:xfrm>
            <a:off x="914400" y="4709160"/>
            <a:ext cx="3611880" cy="548640"/>
          </a:xfrm>
          <a:prstGeom prst="rect">
            <a:avLst/>
          </a:prstGeom>
          <a:noFill/>
          <a:ln/>
        </p:spPr>
        <p:txBody>
          <a:bodyPr wrap="square" rtlCol="0" anchor="ctr"/>
          <a:lstStyle/>
          <a:p>
            <a:pPr indent="0" marL="0">
              <a:lnSpc>
                <a:spcPct val="120000"/>
              </a:lnSpc>
              <a:buNone/>
            </a:pPr>
            <a:r>
              <a:rPr lang="en-US" sz="1050" dirty="0">
                <a:solidFill>
                  <a:srgbClr val="9AA5B8"/>
                </a:solidFill>
                <a:latin typeface="Calibri" pitchFamily="34" charset="0"/>
                <a:ea typeface="Calibri" pitchFamily="34" charset="-122"/>
                <a:cs typeface="Calibri" pitchFamily="34" charset="-120"/>
              </a:rPr>
              <a:t>No Listahanan, CBMS, or internal DOST records used or requested.</a:t>
            </a:r>
            <a:endParaRPr lang="en-US" sz="1050" dirty="0"/>
          </a:p>
        </p:txBody>
      </p:sp>
      <p:sp>
        <p:nvSpPr>
          <p:cNvPr id="14" name="Shape 11"/>
          <p:cNvSpPr/>
          <p:nvPr/>
        </p:nvSpPr>
        <p:spPr>
          <a:xfrm>
            <a:off x="5029200" y="1737360"/>
            <a:ext cx="6537960" cy="2788920"/>
          </a:xfrm>
          <a:prstGeom prst="roundRect">
            <a:avLst>
              <a:gd name="adj" fmla="val 2623"/>
            </a:avLst>
          </a:prstGeom>
          <a:solidFill>
            <a:srgbClr val="F5F7FA"/>
          </a:solidFill>
          <a:ln/>
        </p:spPr>
      </p:sp>
      <p:sp>
        <p:nvSpPr>
          <p:cNvPr id="15" name="Text 12"/>
          <p:cNvSpPr/>
          <p:nvPr/>
        </p:nvSpPr>
        <p:spPr>
          <a:xfrm>
            <a:off x="5257800" y="1874520"/>
            <a:ext cx="6126480" cy="320040"/>
          </a:xfrm>
          <a:prstGeom prst="rect">
            <a:avLst/>
          </a:prstGeom>
          <a:noFill/>
          <a:ln/>
        </p:spPr>
        <p:txBody>
          <a:bodyPr wrap="square" rtlCol="0" anchor="ctr"/>
          <a:lstStyle/>
          <a:p>
            <a:pPr indent="0" marL="0">
              <a:buNone/>
            </a:pPr>
            <a:r>
              <a:rPr lang="en-US" sz="1350" b="1" dirty="0">
                <a:solidFill>
                  <a:srgbClr val="1B1F27"/>
                </a:solidFill>
                <a:latin typeface="Calibri" pitchFamily="34" charset="0"/>
                <a:ea typeface="Calibri" pitchFamily="34" charset="-122"/>
                <a:cs typeface="Calibri" pitchFamily="34" charset="-120"/>
              </a:rPr>
              <a:t>What “verify / label” looks like</a:t>
            </a:r>
            <a:endParaRPr lang="en-US" sz="1350" dirty="0"/>
          </a:p>
        </p:txBody>
      </p:sp>
      <p:sp>
        <p:nvSpPr>
          <p:cNvPr id="16" name="Shape 13"/>
          <p:cNvSpPr/>
          <p:nvPr/>
        </p:nvSpPr>
        <p:spPr>
          <a:xfrm>
            <a:off x="5257800" y="2267712"/>
            <a:ext cx="6080760" cy="960120"/>
          </a:xfrm>
          <a:prstGeom prst="roundRect">
            <a:avLst>
              <a:gd name="adj" fmla="val 4762"/>
            </a:avLst>
          </a:prstGeom>
          <a:solidFill>
            <a:srgbClr val="FFFFFF"/>
          </a:solidFill>
          <a:ln w="12700">
            <a:solidFill>
              <a:srgbClr val="E4E8EE"/>
            </a:solidFill>
            <a:prstDash val="solid"/>
          </a:ln>
        </p:spPr>
      </p:sp>
      <p:sp>
        <p:nvSpPr>
          <p:cNvPr id="17" name="Text 14"/>
          <p:cNvSpPr/>
          <p:nvPr/>
        </p:nvSpPr>
        <p:spPr>
          <a:xfrm>
            <a:off x="5440680" y="2331720"/>
            <a:ext cx="5715000" cy="502920"/>
          </a:xfrm>
          <a:prstGeom prst="rect">
            <a:avLst/>
          </a:prstGeom>
          <a:noFill/>
          <a:ln/>
        </p:spPr>
        <p:txBody>
          <a:bodyPr wrap="square" rtlCol="0" anchor="ctr"/>
          <a:lstStyle/>
          <a:p>
            <a:pPr indent="0" marL="0">
              <a:lnSpc>
                <a:spcPct val="120000"/>
              </a:lnSpc>
              <a:buNone/>
            </a:pPr>
            <a:r>
              <a:rPr lang="en-US" sz="1100" dirty="0">
                <a:solidFill>
                  <a:srgbClr val="1B1F27"/>
                </a:solidFill>
                <a:latin typeface="Calibri" pitchFamily="34" charset="0"/>
                <a:ea typeface="Calibri" pitchFamily="34" charset="-122"/>
                <a:cs typeface="Calibri" pitchFamily="34" charset="-120"/>
              </a:rPr>
              <a:t>“Tumaas ang presyo ng bigas sa Batangas dahil sa pagkasira ng ani mula sa bagyong Kristine.”</a:t>
            </a:r>
            <a:endParaRPr lang="en-US" sz="1100" dirty="0"/>
          </a:p>
        </p:txBody>
      </p:sp>
      <p:sp>
        <p:nvSpPr>
          <p:cNvPr id="18" name="Text 15"/>
          <p:cNvSpPr/>
          <p:nvPr/>
        </p:nvSpPr>
        <p:spPr>
          <a:xfrm>
            <a:off x="5440680" y="2834640"/>
            <a:ext cx="5715000" cy="320040"/>
          </a:xfrm>
          <a:prstGeom prst="rect">
            <a:avLst/>
          </a:prstGeom>
          <a:noFill/>
          <a:ln/>
        </p:spPr>
        <p:txBody>
          <a:bodyPr wrap="square" rtlCol="0" anchor="ctr"/>
          <a:lstStyle/>
          <a:p>
            <a:pPr indent="0" marL="0">
              <a:buNone/>
            </a:pPr>
            <a:r>
              <a:rPr lang="en-US" sz="950" dirty="0">
                <a:solidFill>
                  <a:srgbClr val="5B6472"/>
                </a:solidFill>
                <a:latin typeface="Calibri" pitchFamily="34" charset="0"/>
                <a:ea typeface="Calibri" pitchFamily="34" charset="-122"/>
                <a:cs typeface="Calibri" pitchFamily="34" charset="-120"/>
              </a:rPr>
              <a:t>Rice prices rose in Batangas due to crop damage from Typhoon Kristine.</a:t>
            </a:r>
            <a:endParaRPr lang="en-US" sz="950" dirty="0"/>
          </a:p>
        </p:txBody>
      </p:sp>
      <p:sp>
        <p:nvSpPr>
          <p:cNvPr id="19" name="Shape 16"/>
          <p:cNvSpPr/>
          <p:nvPr/>
        </p:nvSpPr>
        <p:spPr>
          <a:xfrm>
            <a:off x="5257800" y="3364992"/>
            <a:ext cx="1513332" cy="384048"/>
          </a:xfrm>
          <a:prstGeom prst="roundRect">
            <a:avLst>
              <a:gd name="adj" fmla="val 50000"/>
            </a:avLst>
          </a:prstGeom>
          <a:solidFill>
            <a:srgbClr val="0F7B6C"/>
          </a:solidFill>
          <a:ln w="12700">
            <a:solidFill>
              <a:srgbClr val="0F7B6C"/>
            </a:solidFill>
            <a:prstDash val="solid"/>
          </a:ln>
        </p:spPr>
      </p:sp>
      <p:sp>
        <p:nvSpPr>
          <p:cNvPr id="20" name="Text 17"/>
          <p:cNvSpPr/>
          <p:nvPr/>
        </p:nvSpPr>
        <p:spPr>
          <a:xfrm>
            <a:off x="5257800" y="3364992"/>
            <a:ext cx="1513332"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Market issues</a:t>
            </a:r>
            <a:endParaRPr lang="en-US" sz="1000" dirty="0"/>
          </a:p>
        </p:txBody>
      </p:sp>
      <p:sp>
        <p:nvSpPr>
          <p:cNvPr id="21" name="Shape 18"/>
          <p:cNvSpPr/>
          <p:nvPr/>
        </p:nvSpPr>
        <p:spPr>
          <a:xfrm>
            <a:off x="6899148" y="3364992"/>
            <a:ext cx="1591056" cy="384048"/>
          </a:xfrm>
          <a:prstGeom prst="roundRect">
            <a:avLst>
              <a:gd name="adj" fmla="val 50000"/>
            </a:avLst>
          </a:prstGeom>
          <a:solidFill>
            <a:srgbClr val="0F7B6C"/>
          </a:solidFill>
          <a:ln w="12700">
            <a:solidFill>
              <a:srgbClr val="0F7B6C"/>
            </a:solidFill>
            <a:prstDash val="solid"/>
          </a:ln>
        </p:spPr>
      </p:sp>
      <p:sp>
        <p:nvSpPr>
          <p:cNvPr id="22" name="Text 19"/>
          <p:cNvSpPr/>
          <p:nvPr/>
        </p:nvSpPr>
        <p:spPr>
          <a:xfrm>
            <a:off x="6899148" y="3364992"/>
            <a:ext cx="1591056" cy="384048"/>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 Climate events</a:t>
            </a:r>
            <a:endParaRPr lang="en-US" sz="1000" dirty="0"/>
          </a:p>
        </p:txBody>
      </p:sp>
      <p:sp>
        <p:nvSpPr>
          <p:cNvPr id="23" name="Shape 20"/>
          <p:cNvSpPr/>
          <p:nvPr/>
        </p:nvSpPr>
        <p:spPr>
          <a:xfrm>
            <a:off x="8618220" y="3364992"/>
            <a:ext cx="1280160" cy="384048"/>
          </a:xfrm>
          <a:prstGeom prst="roundRect">
            <a:avLst>
              <a:gd name="adj" fmla="val 50000"/>
            </a:avLst>
          </a:prstGeom>
          <a:solidFill>
            <a:srgbClr val="FFFFFF"/>
          </a:solidFill>
          <a:ln w="12700">
            <a:solidFill>
              <a:srgbClr val="E4E8EE"/>
            </a:solidFill>
            <a:prstDash val="solid"/>
          </a:ln>
        </p:spPr>
      </p:sp>
      <p:sp>
        <p:nvSpPr>
          <p:cNvPr id="24" name="Text 21"/>
          <p:cNvSpPr/>
          <p:nvPr/>
        </p:nvSpPr>
        <p:spPr>
          <a:xfrm>
            <a:off x="8618220" y="3364992"/>
            <a:ext cx="1280160" cy="384048"/>
          </a:xfrm>
          <a:prstGeom prst="rect">
            <a:avLst/>
          </a:prstGeom>
          <a:noFill/>
          <a:ln/>
        </p:spPr>
        <p:txBody>
          <a:bodyPr wrap="square"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Employment</a:t>
            </a:r>
            <a:endParaRPr lang="en-US" sz="1000" dirty="0"/>
          </a:p>
        </p:txBody>
      </p:sp>
      <p:sp>
        <p:nvSpPr>
          <p:cNvPr id="25" name="Shape 22"/>
          <p:cNvSpPr/>
          <p:nvPr/>
        </p:nvSpPr>
        <p:spPr>
          <a:xfrm>
            <a:off x="10026396" y="3364992"/>
            <a:ext cx="1668780" cy="384048"/>
          </a:xfrm>
          <a:prstGeom prst="roundRect">
            <a:avLst>
              <a:gd name="adj" fmla="val 50000"/>
            </a:avLst>
          </a:prstGeom>
          <a:solidFill>
            <a:srgbClr val="FFFFFF"/>
          </a:solidFill>
          <a:ln w="12700">
            <a:solidFill>
              <a:srgbClr val="E4E8EE"/>
            </a:solidFill>
            <a:prstDash val="solid"/>
          </a:ln>
        </p:spPr>
      </p:sp>
      <p:sp>
        <p:nvSpPr>
          <p:cNvPr id="26" name="Text 23"/>
          <p:cNvSpPr/>
          <p:nvPr/>
        </p:nvSpPr>
        <p:spPr>
          <a:xfrm>
            <a:off x="10026396" y="3364992"/>
            <a:ext cx="1668780" cy="384048"/>
          </a:xfrm>
          <a:prstGeom prst="rect">
            <a:avLst/>
          </a:prstGeom>
          <a:noFill/>
          <a:ln/>
        </p:spPr>
        <p:txBody>
          <a:bodyPr wrap="square"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OFW remittances</a:t>
            </a:r>
            <a:endParaRPr lang="en-US" sz="1000" dirty="0"/>
          </a:p>
        </p:txBody>
      </p:sp>
      <p:sp>
        <p:nvSpPr>
          <p:cNvPr id="27" name="Shape 24"/>
          <p:cNvSpPr/>
          <p:nvPr/>
        </p:nvSpPr>
        <p:spPr>
          <a:xfrm>
            <a:off x="5257800" y="3840480"/>
            <a:ext cx="1202436" cy="384048"/>
          </a:xfrm>
          <a:prstGeom prst="roundRect">
            <a:avLst>
              <a:gd name="adj" fmla="val 50000"/>
            </a:avLst>
          </a:prstGeom>
          <a:solidFill>
            <a:srgbClr val="FFFFFF"/>
          </a:solidFill>
          <a:ln w="12700">
            <a:solidFill>
              <a:srgbClr val="E4E8EE"/>
            </a:solidFill>
            <a:prstDash val="solid"/>
          </a:ln>
        </p:spPr>
      </p:sp>
      <p:sp>
        <p:nvSpPr>
          <p:cNvPr id="28" name="Text 25"/>
          <p:cNvSpPr/>
          <p:nvPr/>
        </p:nvSpPr>
        <p:spPr>
          <a:xfrm>
            <a:off x="5257800" y="3840480"/>
            <a:ext cx="1202436" cy="384048"/>
          </a:xfrm>
          <a:prstGeom prst="rect">
            <a:avLst/>
          </a:prstGeom>
          <a:noFill/>
          <a:ln/>
        </p:spPr>
        <p:txBody>
          <a:bodyPr wrap="square" rtlCol="0" anchor="ctr"/>
          <a:lstStyle/>
          <a:p>
            <a:pPr algn="ctr" indent="0" marL="0">
              <a:buNone/>
            </a:pPr>
            <a:r>
              <a:rPr lang="en-US" sz="1000" dirty="0">
                <a:solidFill>
                  <a:srgbClr val="5B6472"/>
                </a:solidFill>
                <a:latin typeface="Calibri" pitchFamily="34" charset="0"/>
                <a:ea typeface="Calibri" pitchFamily="34" charset="-122"/>
                <a:cs typeface="Calibri" pitchFamily="34" charset="-120"/>
              </a:rPr>
              <a:t>Fish kill</a:t>
            </a:r>
            <a:endParaRPr lang="en-US" sz="1000" dirty="0"/>
          </a:p>
        </p:txBody>
      </p:sp>
      <p:sp>
        <p:nvSpPr>
          <p:cNvPr id="29" name="Shape 26"/>
          <p:cNvSpPr/>
          <p:nvPr/>
        </p:nvSpPr>
        <p:spPr>
          <a:xfrm>
            <a:off x="5029200" y="4709160"/>
            <a:ext cx="6537960" cy="1554480"/>
          </a:xfrm>
          <a:prstGeom prst="roundRect">
            <a:avLst>
              <a:gd name="adj" fmla="val 4706"/>
            </a:avLst>
          </a:prstGeom>
          <a:solidFill>
            <a:srgbClr val="B7862C"/>
          </a:solidFill>
          <a:ln/>
        </p:spPr>
      </p:sp>
      <p:sp>
        <p:nvSpPr>
          <p:cNvPr id="30" name="Text 27"/>
          <p:cNvSpPr/>
          <p:nvPr/>
        </p:nvSpPr>
        <p:spPr>
          <a:xfrm>
            <a:off x="5257800" y="4828032"/>
            <a:ext cx="3657600" cy="274320"/>
          </a:xfrm>
          <a:prstGeom prst="rect">
            <a:avLst/>
          </a:prstGeom>
          <a:noFill/>
          <a:ln/>
        </p:spPr>
        <p:txBody>
          <a:bodyPr wrap="square" rtlCol="0" anchor="ctr"/>
          <a:lstStyle/>
          <a:p>
            <a:pPr indent="0" marL="0">
              <a:buNone/>
            </a:pPr>
            <a:r>
              <a:rPr lang="en-US" sz="1100" b="1" spc="100" kern="0" dirty="0">
                <a:solidFill>
                  <a:srgbClr val="16294A"/>
                </a:solidFill>
              </a:rPr>
              <a:t>ASK #3</a:t>
            </a:r>
            <a:endParaRPr lang="en-US" sz="1100" dirty="0"/>
          </a:p>
        </p:txBody>
      </p:sp>
      <p:sp>
        <p:nvSpPr>
          <p:cNvPr id="31" name="Text 28"/>
          <p:cNvSpPr/>
          <p:nvPr/>
        </p:nvSpPr>
        <p:spPr>
          <a:xfrm>
            <a:off x="5257800" y="5065776"/>
            <a:ext cx="6035040" cy="36576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Expert Validator for the Dataset</a:t>
            </a:r>
            <a:endParaRPr lang="en-US" sz="1500" dirty="0"/>
          </a:p>
        </p:txBody>
      </p:sp>
      <p:sp>
        <p:nvSpPr>
          <p:cNvPr id="32" name="Text 29"/>
          <p:cNvSpPr/>
          <p:nvPr/>
        </p:nvSpPr>
        <p:spPr>
          <a:xfrm>
            <a:off x="5257800" y="5394960"/>
            <a:ext cx="6035040" cy="777240"/>
          </a:xfrm>
          <a:prstGeom prst="rect">
            <a:avLst/>
          </a:prstGeom>
          <a:noFill/>
          <a:ln/>
        </p:spPr>
        <p:txBody>
          <a:bodyPr wrap="square" rtlCol="0" anchor="ctr"/>
          <a:lstStyle/>
          <a:p>
            <a:pPr indent="0" marL="0">
              <a:lnSpc>
                <a:spcPct val="125000"/>
              </a:lnSpc>
              <a:buNone/>
            </a:pPr>
            <a:r>
              <a:rPr lang="en-US" sz="1100" dirty="0">
                <a:solidFill>
                  <a:srgbClr val="3A2E12"/>
                </a:solidFill>
                <a:latin typeface="Calibri" pitchFamily="34" charset="0"/>
                <a:ea typeface="Calibri" pitchFamily="34" charset="-122"/>
                <a:cs typeface="Calibri" pitchFamily="34" charset="-120"/>
              </a:rPr>
              <a:t>One or more DOST staff to confirm/correct tags on a sample (not all 17,791) of articles — flexible format, light time commitment.</a:t>
            </a:r>
            <a:endParaRPr lang="en-US" sz="1100" dirty="0"/>
          </a:p>
        </p:txBody>
      </p:sp>
      <p:sp>
        <p:nvSpPr>
          <p:cNvPr id="33" name="Text 30"/>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34" name="Text 31"/>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06 · MORE QUESTIONS</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2700" b="1" dirty="0">
                <a:solidFill>
                  <a:srgbClr val="1B1F27"/>
                </a:solidFill>
                <a:latin typeface="Cambria" pitchFamily="34" charset="0"/>
                <a:ea typeface="Cambria" pitchFamily="34" charset="-122"/>
                <a:cs typeface="Cambria" pitchFamily="34" charset="-120"/>
              </a:rPr>
              <a:t>This meeting IS the pre-questionnaire</a:t>
            </a:r>
            <a:endParaRPr lang="en-US" sz="2700" dirty="0"/>
          </a:p>
        </p:txBody>
      </p:sp>
      <p:sp>
        <p:nvSpPr>
          <p:cNvPr id="4" name="Text 2"/>
          <p:cNvSpPr/>
          <p:nvPr/>
        </p:nvSpPr>
        <p:spPr>
          <a:xfrm>
            <a:off x="640080" y="1417320"/>
            <a:ext cx="10607040" cy="365760"/>
          </a:xfrm>
          <a:prstGeom prst="rect">
            <a:avLst/>
          </a:prstGeom>
          <a:noFill/>
          <a:ln/>
        </p:spPr>
        <p:txBody>
          <a:bodyPr wrap="square" rtlCol="0" anchor="ctr"/>
          <a:lstStyle/>
          <a:p>
            <a:pPr indent="0" marL="0">
              <a:buNone/>
            </a:pPr>
            <a:r>
              <a:rPr lang="en-US" sz="1250" dirty="0">
                <a:solidFill>
                  <a:srgbClr val="5B6472"/>
                </a:solidFill>
                <a:latin typeface="Calibri" pitchFamily="34" charset="0"/>
                <a:ea typeface="Calibri" pitchFamily="34" charset="-122"/>
                <a:cs typeface="Calibri" pitchFamily="34" charset="-120"/>
              </a:rPr>
              <a:t>No separate pre-survey was sent — these are the questions that survey would have asked, put to you directly. We'll open the floor for your questions right after.</a:t>
            </a:r>
            <a:endParaRPr lang="en-US" sz="1250" dirty="0"/>
          </a:p>
        </p:txBody>
      </p:sp>
      <p:sp>
        <p:nvSpPr>
          <p:cNvPr id="5" name="Shape 3"/>
          <p:cNvSpPr/>
          <p:nvPr/>
        </p:nvSpPr>
        <p:spPr>
          <a:xfrm>
            <a:off x="640080" y="1965960"/>
            <a:ext cx="5257800" cy="1965960"/>
          </a:xfrm>
          <a:prstGeom prst="roundRect">
            <a:avLst>
              <a:gd name="adj" fmla="val 3721"/>
            </a:avLst>
          </a:prstGeom>
          <a:solidFill>
            <a:srgbClr val="F5F7FA"/>
          </a:solidFill>
          <a:ln/>
        </p:spPr>
      </p:sp>
      <p:sp>
        <p:nvSpPr>
          <p:cNvPr id="6" name="Shape 4"/>
          <p:cNvSpPr/>
          <p:nvPr/>
        </p:nvSpPr>
        <p:spPr>
          <a:xfrm>
            <a:off x="896112" y="2194560"/>
            <a:ext cx="548640" cy="548640"/>
          </a:xfrm>
          <a:prstGeom prst="ellipse">
            <a:avLst/>
          </a:prstGeom>
          <a:solidFill>
            <a:srgbClr val="1F3864"/>
          </a:solidFill>
          <a:ln/>
        </p:spPr>
      </p:sp>
      <p:pic>
        <p:nvPicPr>
          <p:cNvPr id="7" name="Image 0" descr="/tmp/aipheed_pptx/icons/messageCircle.png">    </p:cNvPr>
          <p:cNvPicPr>
            <a:picLocks noChangeAspect="1"/>
          </p:cNvPicPr>
          <p:nvPr/>
        </p:nvPicPr>
        <p:blipFill>
          <a:blip r:embed="rId1"/>
          <a:stretch>
            <a:fillRect/>
          </a:stretch>
        </p:blipFill>
        <p:spPr>
          <a:xfrm>
            <a:off x="1024128" y="2322576"/>
            <a:ext cx="292608" cy="292608"/>
          </a:xfrm>
          <a:prstGeom prst="rect">
            <a:avLst/>
          </a:prstGeom>
        </p:spPr>
      </p:pic>
      <p:sp>
        <p:nvSpPr>
          <p:cNvPr id="8" name="Text 5"/>
          <p:cNvSpPr/>
          <p:nvPr/>
        </p:nvSpPr>
        <p:spPr>
          <a:xfrm>
            <a:off x="1600200" y="2148840"/>
            <a:ext cx="4069080" cy="502920"/>
          </a:xfrm>
          <a:prstGeom prst="rect">
            <a:avLst/>
          </a:prstGeom>
          <a:noFill/>
          <a:ln/>
        </p:spPr>
        <p:txBody>
          <a:bodyPr wrap="square" rtlCol="0" anchor="ctr"/>
          <a:lstStyle/>
          <a:p>
            <a:pPr indent="0" marL="0">
              <a:lnSpc>
                <a:spcPct val="110000"/>
              </a:lnSpc>
              <a:buNone/>
            </a:pPr>
            <a:r>
              <a:rPr lang="en-US" sz="1400" b="1" dirty="0">
                <a:solidFill>
                  <a:srgbClr val="1B1F27"/>
                </a:solidFill>
                <a:latin typeface="Calibri" pitchFamily="34" charset="0"/>
                <a:ea typeface="Calibri" pitchFamily="34" charset="-122"/>
                <a:cs typeface="Calibri" pitchFamily="34" charset="-120"/>
              </a:rPr>
              <a:t>Current Practice &amp; Awareness</a:t>
            </a:r>
            <a:endParaRPr lang="en-US" sz="1400" dirty="0"/>
          </a:p>
        </p:txBody>
      </p:sp>
      <p:sp>
        <p:nvSpPr>
          <p:cNvPr id="9" name="Text 6"/>
          <p:cNvSpPr/>
          <p:nvPr/>
        </p:nvSpPr>
        <p:spPr>
          <a:xfrm>
            <a:off x="914400" y="2834640"/>
            <a:ext cx="4709160" cy="1005840"/>
          </a:xfrm>
          <a:prstGeom prst="rect">
            <a:avLst/>
          </a:prstGeom>
          <a:noFill/>
          <a:ln/>
        </p:spPr>
        <p:txBody>
          <a:bodyPr wrap="square" rtlCol="0" anchor="ctr"/>
          <a:lstStyle/>
          <a:p>
            <a:pPr indent="0" marL="0">
              <a:lnSpc>
                <a:spcPct val="130000"/>
              </a:lnSpc>
              <a:buNone/>
            </a:pPr>
            <a:r>
              <a:rPr lang="en-US" sz="1100" dirty="0">
                <a:solidFill>
                  <a:srgbClr val="5B6472"/>
                </a:solidFill>
                <a:latin typeface="Calibri" pitchFamily="34" charset="0"/>
                <a:ea typeface="Calibri" pitchFamily="34" charset="-122"/>
                <a:cs typeface="Calibri" pitchFamily="34" charset="-120"/>
              </a:rPr>
              <a:t>What do you currently use to monitor food insecurity? Where's the biggest blind spot today?</a:t>
            </a:r>
            <a:endParaRPr lang="en-US" sz="1100" dirty="0"/>
          </a:p>
        </p:txBody>
      </p:sp>
      <p:sp>
        <p:nvSpPr>
          <p:cNvPr id="10" name="Shape 7"/>
          <p:cNvSpPr/>
          <p:nvPr/>
        </p:nvSpPr>
        <p:spPr>
          <a:xfrm>
            <a:off x="6263640" y="1965960"/>
            <a:ext cx="5257800" cy="1965960"/>
          </a:xfrm>
          <a:prstGeom prst="roundRect">
            <a:avLst>
              <a:gd name="adj" fmla="val 3721"/>
            </a:avLst>
          </a:prstGeom>
          <a:solidFill>
            <a:srgbClr val="F5F7FA"/>
          </a:solidFill>
          <a:ln/>
        </p:spPr>
      </p:sp>
      <p:sp>
        <p:nvSpPr>
          <p:cNvPr id="11" name="Shape 8"/>
          <p:cNvSpPr/>
          <p:nvPr/>
        </p:nvSpPr>
        <p:spPr>
          <a:xfrm>
            <a:off x="6519672" y="2194560"/>
            <a:ext cx="548640" cy="548640"/>
          </a:xfrm>
          <a:prstGeom prst="ellipse">
            <a:avLst/>
          </a:prstGeom>
          <a:solidFill>
            <a:srgbClr val="1F3864"/>
          </a:solidFill>
          <a:ln/>
        </p:spPr>
      </p:sp>
      <p:pic>
        <p:nvPicPr>
          <p:cNvPr id="12" name="Image 1" descr="/tmp/aipheed_pptx/icons/sparkles.png">    </p:cNvPr>
          <p:cNvPicPr>
            <a:picLocks noChangeAspect="1"/>
          </p:cNvPicPr>
          <p:nvPr/>
        </p:nvPicPr>
        <p:blipFill>
          <a:blip r:embed="rId2"/>
          <a:stretch>
            <a:fillRect/>
          </a:stretch>
        </p:blipFill>
        <p:spPr>
          <a:xfrm>
            <a:off x="6647688" y="2322576"/>
            <a:ext cx="292608" cy="292608"/>
          </a:xfrm>
          <a:prstGeom prst="rect">
            <a:avLst/>
          </a:prstGeom>
        </p:spPr>
      </p:pic>
      <p:sp>
        <p:nvSpPr>
          <p:cNvPr id="13" name="Text 9"/>
          <p:cNvSpPr/>
          <p:nvPr/>
        </p:nvSpPr>
        <p:spPr>
          <a:xfrm>
            <a:off x="7223760" y="2148840"/>
            <a:ext cx="4069080" cy="502920"/>
          </a:xfrm>
          <a:prstGeom prst="rect">
            <a:avLst/>
          </a:prstGeom>
          <a:noFill/>
          <a:ln/>
        </p:spPr>
        <p:txBody>
          <a:bodyPr wrap="square" rtlCol="0" anchor="ctr"/>
          <a:lstStyle/>
          <a:p>
            <a:pPr indent="0" marL="0">
              <a:lnSpc>
                <a:spcPct val="110000"/>
              </a:lnSpc>
              <a:buNone/>
            </a:pPr>
            <a:r>
              <a:rPr lang="en-US" sz="1400" b="1" dirty="0">
                <a:solidFill>
                  <a:srgbClr val="1B1F27"/>
                </a:solidFill>
                <a:latin typeface="Calibri" pitchFamily="34" charset="0"/>
                <a:ea typeface="Calibri" pitchFamily="34" charset="-122"/>
                <a:cs typeface="Calibri" pitchFamily="34" charset="-120"/>
              </a:rPr>
              <a:t>Desired Features</a:t>
            </a:r>
            <a:endParaRPr lang="en-US" sz="1400" dirty="0"/>
          </a:p>
        </p:txBody>
      </p:sp>
      <p:sp>
        <p:nvSpPr>
          <p:cNvPr id="14" name="Text 10"/>
          <p:cNvSpPr/>
          <p:nvPr/>
        </p:nvSpPr>
        <p:spPr>
          <a:xfrm>
            <a:off x="6537960" y="2834640"/>
            <a:ext cx="4709160" cy="1005840"/>
          </a:xfrm>
          <a:prstGeom prst="rect">
            <a:avLst/>
          </a:prstGeom>
          <a:noFill/>
          <a:ln/>
        </p:spPr>
        <p:txBody>
          <a:bodyPr wrap="square" rtlCol="0" anchor="ctr"/>
          <a:lstStyle/>
          <a:p>
            <a:pPr indent="0" marL="0">
              <a:lnSpc>
                <a:spcPct val="130000"/>
              </a:lnSpc>
              <a:buNone/>
            </a:pPr>
            <a:r>
              <a:rPr lang="en-US" sz="1100" dirty="0">
                <a:solidFill>
                  <a:srgbClr val="5B6472"/>
                </a:solidFill>
                <a:latin typeface="Calibri" pitchFamily="34" charset="0"/>
                <a:ea typeface="Calibri" pitchFamily="34" charset="-122"/>
                <a:cs typeface="Calibri" pitchFamily="34" charset="-120"/>
              </a:rPr>
              <a:t>What would make aiPHeed genuinely useful? Which risk categories or groups should it prioritize?</a:t>
            </a:r>
            <a:endParaRPr lang="en-US" sz="1100" dirty="0"/>
          </a:p>
        </p:txBody>
      </p:sp>
      <p:sp>
        <p:nvSpPr>
          <p:cNvPr id="15" name="Shape 11"/>
          <p:cNvSpPr/>
          <p:nvPr/>
        </p:nvSpPr>
        <p:spPr>
          <a:xfrm>
            <a:off x="640080" y="4206240"/>
            <a:ext cx="5257800" cy="1965960"/>
          </a:xfrm>
          <a:prstGeom prst="roundRect">
            <a:avLst>
              <a:gd name="adj" fmla="val 3721"/>
            </a:avLst>
          </a:prstGeom>
          <a:solidFill>
            <a:srgbClr val="F5F7FA"/>
          </a:solidFill>
          <a:ln/>
        </p:spPr>
      </p:sp>
      <p:sp>
        <p:nvSpPr>
          <p:cNvPr id="16" name="Shape 12"/>
          <p:cNvSpPr/>
          <p:nvPr/>
        </p:nvSpPr>
        <p:spPr>
          <a:xfrm>
            <a:off x="896112" y="4434840"/>
            <a:ext cx="548640" cy="548640"/>
          </a:xfrm>
          <a:prstGeom prst="ellipse">
            <a:avLst/>
          </a:prstGeom>
          <a:solidFill>
            <a:srgbClr val="1F3864"/>
          </a:solidFill>
          <a:ln/>
        </p:spPr>
      </p:sp>
      <p:pic>
        <p:nvPicPr>
          <p:cNvPr id="17" name="Image 2" descr="/tmp/aipheed_pptx/icons/checkCircle.png">    </p:cNvPr>
          <p:cNvPicPr>
            <a:picLocks noChangeAspect="1"/>
          </p:cNvPicPr>
          <p:nvPr/>
        </p:nvPicPr>
        <p:blipFill>
          <a:blip r:embed="rId3"/>
          <a:stretch>
            <a:fillRect/>
          </a:stretch>
        </p:blipFill>
        <p:spPr>
          <a:xfrm>
            <a:off x="1024128" y="4562856"/>
            <a:ext cx="292608" cy="292608"/>
          </a:xfrm>
          <a:prstGeom prst="rect">
            <a:avLst/>
          </a:prstGeom>
        </p:spPr>
      </p:pic>
      <p:sp>
        <p:nvSpPr>
          <p:cNvPr id="18" name="Text 13"/>
          <p:cNvSpPr/>
          <p:nvPr/>
        </p:nvSpPr>
        <p:spPr>
          <a:xfrm>
            <a:off x="1600200" y="4389120"/>
            <a:ext cx="4069080" cy="502920"/>
          </a:xfrm>
          <a:prstGeom prst="rect">
            <a:avLst/>
          </a:prstGeom>
          <a:noFill/>
          <a:ln/>
        </p:spPr>
        <p:txBody>
          <a:bodyPr wrap="square" rtlCol="0" anchor="ctr"/>
          <a:lstStyle/>
          <a:p>
            <a:pPr indent="0" marL="0">
              <a:lnSpc>
                <a:spcPct val="110000"/>
              </a:lnSpc>
              <a:buNone/>
            </a:pPr>
            <a:r>
              <a:rPr lang="en-US" sz="1400" b="1" dirty="0">
                <a:solidFill>
                  <a:srgbClr val="1B1F27"/>
                </a:solidFill>
                <a:latin typeface="Calibri" pitchFamily="34" charset="0"/>
                <a:ea typeface="Calibri" pitchFamily="34" charset="-122"/>
                <a:cs typeface="Calibri" pitchFamily="34" charset="-120"/>
              </a:rPr>
              <a:t>Need &amp; Usefulness</a:t>
            </a:r>
            <a:endParaRPr lang="en-US" sz="1400" dirty="0"/>
          </a:p>
        </p:txBody>
      </p:sp>
      <p:sp>
        <p:nvSpPr>
          <p:cNvPr id="19" name="Text 14"/>
          <p:cNvSpPr/>
          <p:nvPr/>
        </p:nvSpPr>
        <p:spPr>
          <a:xfrm>
            <a:off x="914400" y="5074920"/>
            <a:ext cx="4709160" cy="1005840"/>
          </a:xfrm>
          <a:prstGeom prst="rect">
            <a:avLst/>
          </a:prstGeom>
          <a:noFill/>
          <a:ln/>
        </p:spPr>
        <p:txBody>
          <a:bodyPr wrap="square" rtlCol="0" anchor="ctr"/>
          <a:lstStyle/>
          <a:p>
            <a:pPr indent="0" marL="0">
              <a:lnSpc>
                <a:spcPct val="130000"/>
              </a:lnSpc>
              <a:buNone/>
            </a:pPr>
            <a:r>
              <a:rPr lang="en-US" sz="1100" dirty="0">
                <a:solidFill>
                  <a:srgbClr val="5B6472"/>
                </a:solidFill>
                <a:latin typeface="Calibri" pitchFamily="34" charset="0"/>
                <a:ea typeface="Calibri" pitchFamily="34" charset="-122"/>
                <a:cs typeface="Calibri" pitchFamily="34" charset="-120"/>
              </a:rPr>
              <a:t>Is there a real need for this, given what already exists? Is quarterly the right cadence?</a:t>
            </a:r>
            <a:endParaRPr lang="en-US" sz="1100" dirty="0"/>
          </a:p>
        </p:txBody>
      </p:sp>
      <p:sp>
        <p:nvSpPr>
          <p:cNvPr id="20" name="Shape 15"/>
          <p:cNvSpPr/>
          <p:nvPr/>
        </p:nvSpPr>
        <p:spPr>
          <a:xfrm>
            <a:off x="6263640" y="4206240"/>
            <a:ext cx="5257800" cy="1965960"/>
          </a:xfrm>
          <a:prstGeom prst="roundRect">
            <a:avLst>
              <a:gd name="adj" fmla="val 3721"/>
            </a:avLst>
          </a:prstGeom>
          <a:solidFill>
            <a:srgbClr val="F5F7FA"/>
          </a:solidFill>
          <a:ln/>
        </p:spPr>
      </p:sp>
      <p:sp>
        <p:nvSpPr>
          <p:cNvPr id="21" name="Shape 16"/>
          <p:cNvSpPr/>
          <p:nvPr/>
        </p:nvSpPr>
        <p:spPr>
          <a:xfrm>
            <a:off x="6519672" y="4434840"/>
            <a:ext cx="548640" cy="548640"/>
          </a:xfrm>
          <a:prstGeom prst="ellipse">
            <a:avLst/>
          </a:prstGeom>
          <a:solidFill>
            <a:srgbClr val="1F3864"/>
          </a:solidFill>
          <a:ln/>
        </p:spPr>
      </p:sp>
      <p:pic>
        <p:nvPicPr>
          <p:cNvPr id="22" name="Image 3" descr="/tmp/aipheed_pptx/icons/userCheck.png">    </p:cNvPr>
          <p:cNvPicPr>
            <a:picLocks noChangeAspect="1"/>
          </p:cNvPicPr>
          <p:nvPr/>
        </p:nvPicPr>
        <p:blipFill>
          <a:blip r:embed="rId4"/>
          <a:stretch>
            <a:fillRect/>
          </a:stretch>
        </p:blipFill>
        <p:spPr>
          <a:xfrm>
            <a:off x="6647688" y="4562856"/>
            <a:ext cx="292608" cy="292608"/>
          </a:xfrm>
          <a:prstGeom prst="rect">
            <a:avLst/>
          </a:prstGeom>
        </p:spPr>
      </p:pic>
      <p:sp>
        <p:nvSpPr>
          <p:cNvPr id="23" name="Text 17"/>
          <p:cNvSpPr/>
          <p:nvPr/>
        </p:nvSpPr>
        <p:spPr>
          <a:xfrm>
            <a:off x="7223760" y="4389120"/>
            <a:ext cx="4069080" cy="502920"/>
          </a:xfrm>
          <a:prstGeom prst="rect">
            <a:avLst/>
          </a:prstGeom>
          <a:noFill/>
          <a:ln/>
        </p:spPr>
        <p:txBody>
          <a:bodyPr wrap="square" rtlCol="0" anchor="ctr"/>
          <a:lstStyle/>
          <a:p>
            <a:pPr indent="0" marL="0">
              <a:lnSpc>
                <a:spcPct val="110000"/>
              </a:lnSpc>
              <a:buNone/>
            </a:pPr>
            <a:r>
              <a:rPr lang="en-US" sz="1400" b="1" dirty="0">
                <a:solidFill>
                  <a:srgbClr val="1B1F27"/>
                </a:solidFill>
                <a:latin typeface="Calibri" pitchFamily="34" charset="0"/>
                <a:ea typeface="Calibri" pitchFamily="34" charset="-122"/>
                <a:cs typeface="Calibri" pitchFamily="34" charset="-120"/>
              </a:rPr>
              <a:t>Capacity &amp; Fit</a:t>
            </a:r>
            <a:endParaRPr lang="en-US" sz="1400" dirty="0"/>
          </a:p>
        </p:txBody>
      </p:sp>
      <p:sp>
        <p:nvSpPr>
          <p:cNvPr id="24" name="Text 18"/>
          <p:cNvSpPr/>
          <p:nvPr/>
        </p:nvSpPr>
        <p:spPr>
          <a:xfrm>
            <a:off x="6537960" y="5074920"/>
            <a:ext cx="4709160" cy="1005840"/>
          </a:xfrm>
          <a:prstGeom prst="rect">
            <a:avLst/>
          </a:prstGeom>
          <a:noFill/>
          <a:ln/>
        </p:spPr>
        <p:txBody>
          <a:bodyPr wrap="square" rtlCol="0" anchor="ctr"/>
          <a:lstStyle/>
          <a:p>
            <a:pPr indent="0" marL="0">
              <a:lnSpc>
                <a:spcPct val="130000"/>
              </a:lnSpc>
              <a:buNone/>
            </a:pPr>
            <a:r>
              <a:rPr lang="en-US" sz="1100" dirty="0">
                <a:solidFill>
                  <a:srgbClr val="5B6472"/>
                </a:solidFill>
                <a:latin typeface="Calibri" pitchFamily="34" charset="0"/>
                <a:ea typeface="Calibri" pitchFamily="34" charset="-122"/>
                <a:cs typeface="Calibri" pitchFamily="34" charset="-120"/>
              </a:rPr>
              <a:t>Who would be the day-to-day user if adopted? What would DOST need to see to consider a wider pilot?</a:t>
            </a:r>
            <a:endParaRPr lang="en-US" sz="1100" dirty="0"/>
          </a:p>
        </p:txBody>
      </p:sp>
      <p:sp>
        <p:nvSpPr>
          <p:cNvPr id="25" name="Text 19"/>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26" name="Text 20"/>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384048"/>
            <a:ext cx="9144000" cy="320040"/>
          </a:xfrm>
          <a:prstGeom prst="rect">
            <a:avLst/>
          </a:prstGeom>
          <a:noFill/>
          <a:ln/>
        </p:spPr>
        <p:txBody>
          <a:bodyPr wrap="square" rtlCol="0" anchor="ctr"/>
          <a:lstStyle/>
          <a:p>
            <a:pPr indent="0" marL="0">
              <a:buNone/>
            </a:pPr>
            <a:r>
              <a:rPr lang="en-US" sz="1250" b="1" spc="200" kern="0" dirty="0">
                <a:solidFill>
                  <a:srgbClr val="B7862C"/>
                </a:solidFill>
                <a:latin typeface="Calibri" pitchFamily="34" charset="0"/>
                <a:ea typeface="Calibri" pitchFamily="34" charset="-122"/>
                <a:cs typeface="Calibri" pitchFamily="34" charset="-120"/>
              </a:rPr>
              <a:t>06 · MORE QUESTIONS</a:t>
            </a:r>
            <a:endParaRPr lang="en-US" sz="1250" dirty="0"/>
          </a:p>
        </p:txBody>
      </p:sp>
      <p:sp>
        <p:nvSpPr>
          <p:cNvPr id="3" name="Text 1"/>
          <p:cNvSpPr/>
          <p:nvPr/>
        </p:nvSpPr>
        <p:spPr>
          <a:xfrm>
            <a:off x="640080" y="685800"/>
            <a:ext cx="10607040" cy="777240"/>
          </a:xfrm>
          <a:prstGeom prst="rect">
            <a:avLst/>
          </a:prstGeom>
          <a:noFill/>
          <a:ln/>
        </p:spPr>
        <p:txBody>
          <a:bodyPr wrap="square" rtlCol="0" anchor="ctr"/>
          <a:lstStyle/>
          <a:p>
            <a:pPr indent="0" marL="0">
              <a:buNone/>
            </a:pPr>
            <a:r>
              <a:rPr lang="en-US" sz="2800" b="1" dirty="0">
                <a:solidFill>
                  <a:srgbClr val="1B1F27"/>
                </a:solidFill>
                <a:latin typeface="Cambria" pitchFamily="34" charset="0"/>
                <a:ea typeface="Cambria" pitchFamily="34" charset="-122"/>
                <a:cs typeface="Cambria" pitchFamily="34" charset="-120"/>
              </a:rPr>
              <a:t>What happens after this call</a:t>
            </a:r>
            <a:endParaRPr lang="en-US" sz="2800" dirty="0"/>
          </a:p>
        </p:txBody>
      </p:sp>
      <p:sp>
        <p:nvSpPr>
          <p:cNvPr id="4" name="Shape 2"/>
          <p:cNvSpPr/>
          <p:nvPr/>
        </p:nvSpPr>
        <p:spPr>
          <a:xfrm>
            <a:off x="627736" y="2221992"/>
            <a:ext cx="10936224" cy="0"/>
          </a:xfrm>
          <a:prstGeom prst="line">
            <a:avLst/>
          </a:prstGeom>
          <a:noFill/>
          <a:ln w="25400">
            <a:solidFill>
              <a:srgbClr val="E4E8EE"/>
            </a:solidFill>
            <a:prstDash val="solid"/>
          </a:ln>
        </p:spPr>
      </p:sp>
      <p:sp>
        <p:nvSpPr>
          <p:cNvPr id="5" name="Shape 3"/>
          <p:cNvSpPr/>
          <p:nvPr/>
        </p:nvSpPr>
        <p:spPr>
          <a:xfrm>
            <a:off x="1629004" y="1965960"/>
            <a:ext cx="512064" cy="512064"/>
          </a:xfrm>
          <a:prstGeom prst="ellipse">
            <a:avLst/>
          </a:prstGeom>
          <a:solidFill>
            <a:srgbClr val="1F3864"/>
          </a:solidFill>
          <a:ln/>
        </p:spPr>
      </p:sp>
      <p:sp>
        <p:nvSpPr>
          <p:cNvPr id="6" name="Text 4"/>
          <p:cNvSpPr/>
          <p:nvPr/>
        </p:nvSpPr>
        <p:spPr>
          <a:xfrm>
            <a:off x="1629004" y="1965960"/>
            <a:ext cx="512064" cy="512064"/>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7" name="Text 5"/>
          <p:cNvSpPr/>
          <p:nvPr/>
        </p:nvSpPr>
        <p:spPr>
          <a:xfrm>
            <a:off x="627736" y="2606040"/>
            <a:ext cx="2514600" cy="274320"/>
          </a:xfrm>
          <a:prstGeom prst="rect">
            <a:avLst/>
          </a:prstGeom>
          <a:noFill/>
          <a:ln/>
        </p:spPr>
        <p:txBody>
          <a:bodyPr wrap="square" rtlCol="0" anchor="ctr"/>
          <a:lstStyle/>
          <a:p>
            <a:pPr algn="ctr" indent="0" marL="0">
              <a:buNone/>
            </a:pPr>
            <a:r>
              <a:rPr lang="en-US" sz="950" b="1" spc="100" kern="0" dirty="0">
                <a:solidFill>
                  <a:srgbClr val="B7862C"/>
                </a:solidFill>
              </a:rPr>
              <a:t>TODAY</a:t>
            </a:r>
            <a:endParaRPr lang="en-US" sz="950" dirty="0"/>
          </a:p>
        </p:txBody>
      </p:sp>
      <p:sp>
        <p:nvSpPr>
          <p:cNvPr id="8" name="Text 6"/>
          <p:cNvSpPr/>
          <p:nvPr/>
        </p:nvSpPr>
        <p:spPr>
          <a:xfrm>
            <a:off x="627736" y="2880360"/>
            <a:ext cx="2514600" cy="502920"/>
          </a:xfrm>
          <a:prstGeom prst="rect">
            <a:avLst/>
          </a:prstGeom>
          <a:noFill/>
          <a:ln/>
        </p:spPr>
        <p:txBody>
          <a:bodyPr wrap="square" rtlCol="0" anchor="ctr"/>
          <a:lstStyle/>
          <a:p>
            <a:pPr algn="ctr" indent="0" marL="0">
              <a:lnSpc>
                <a:spcPct val="115000"/>
              </a:lnSpc>
              <a:buNone/>
            </a:pPr>
            <a:r>
              <a:rPr lang="en-US" sz="1350" b="1" dirty="0">
                <a:solidFill>
                  <a:srgbClr val="1B1F27"/>
                </a:solidFill>
                <a:latin typeface="Calibri" pitchFamily="34" charset="0"/>
                <a:ea typeface="Calibri" pitchFamily="34" charset="-122"/>
                <a:cs typeface="Calibri" pitchFamily="34" charset="-120"/>
              </a:rPr>
              <a:t>Meeting, demo &amp; open Q&amp;A</a:t>
            </a:r>
            <a:endParaRPr lang="en-US" sz="1350" dirty="0"/>
          </a:p>
        </p:txBody>
      </p:sp>
      <p:sp>
        <p:nvSpPr>
          <p:cNvPr id="9" name="Text 7"/>
          <p:cNvSpPr/>
          <p:nvPr/>
        </p:nvSpPr>
        <p:spPr>
          <a:xfrm>
            <a:off x="719176" y="3383280"/>
            <a:ext cx="2331720" cy="914400"/>
          </a:xfrm>
          <a:prstGeom prst="rect">
            <a:avLst/>
          </a:prstGeom>
          <a:noFill/>
          <a:ln/>
        </p:spPr>
        <p:txBody>
          <a:bodyPr wrap="square" rtlCol="0" anchor="ctr"/>
          <a:lstStyle/>
          <a:p>
            <a:pPr algn="ctr" indent="0" marL="0">
              <a:lnSpc>
                <a:spcPct val="125000"/>
              </a:lnSpc>
              <a:buNone/>
            </a:pPr>
            <a:r>
              <a:rPr lang="en-US" sz="1000" dirty="0">
                <a:solidFill>
                  <a:srgbClr val="5B6472"/>
                </a:solidFill>
                <a:latin typeface="Calibri" pitchFamily="34" charset="0"/>
                <a:ea typeface="Calibri" pitchFamily="34" charset="-122"/>
                <a:cs typeface="Calibri" pitchFamily="34" charset="-120"/>
              </a:rPr>
              <a:t>Ask 1–3 confirmed, DOST's pre-interview answers and questions captured</a:t>
            </a:r>
            <a:endParaRPr lang="en-US" sz="1000" dirty="0"/>
          </a:p>
        </p:txBody>
      </p:sp>
      <p:sp>
        <p:nvSpPr>
          <p:cNvPr id="10" name="Shape 8"/>
          <p:cNvSpPr/>
          <p:nvPr/>
        </p:nvSpPr>
        <p:spPr>
          <a:xfrm>
            <a:off x="4436212" y="1965960"/>
            <a:ext cx="512064" cy="512064"/>
          </a:xfrm>
          <a:prstGeom prst="ellipse">
            <a:avLst/>
          </a:prstGeom>
          <a:solidFill>
            <a:srgbClr val="1F3864"/>
          </a:solidFill>
          <a:ln/>
        </p:spPr>
      </p:sp>
      <p:sp>
        <p:nvSpPr>
          <p:cNvPr id="11" name="Text 9"/>
          <p:cNvSpPr/>
          <p:nvPr/>
        </p:nvSpPr>
        <p:spPr>
          <a:xfrm>
            <a:off x="4436212" y="1965960"/>
            <a:ext cx="512064" cy="512064"/>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10"/>
          <p:cNvSpPr/>
          <p:nvPr/>
        </p:nvSpPr>
        <p:spPr>
          <a:xfrm>
            <a:off x="3434944" y="2606040"/>
            <a:ext cx="2514600" cy="274320"/>
          </a:xfrm>
          <a:prstGeom prst="rect">
            <a:avLst/>
          </a:prstGeom>
          <a:noFill/>
          <a:ln/>
        </p:spPr>
        <p:txBody>
          <a:bodyPr wrap="square" rtlCol="0" anchor="ctr"/>
          <a:lstStyle/>
          <a:p>
            <a:pPr algn="ctr" indent="0" marL="0">
              <a:buNone/>
            </a:pPr>
            <a:r>
              <a:rPr lang="en-US" sz="950" b="1" spc="100" kern="0" dirty="0">
                <a:solidFill>
                  <a:srgbClr val="B7862C"/>
                </a:solidFill>
              </a:rPr>
              <a:t>+ A FEW DAYS</a:t>
            </a:r>
            <a:endParaRPr lang="en-US" sz="950" dirty="0"/>
          </a:p>
        </p:txBody>
      </p:sp>
      <p:sp>
        <p:nvSpPr>
          <p:cNvPr id="13" name="Text 11"/>
          <p:cNvSpPr/>
          <p:nvPr/>
        </p:nvSpPr>
        <p:spPr>
          <a:xfrm>
            <a:off x="3434944" y="2880360"/>
            <a:ext cx="2514600" cy="502920"/>
          </a:xfrm>
          <a:prstGeom prst="rect">
            <a:avLst/>
          </a:prstGeom>
          <a:noFill/>
          <a:ln/>
        </p:spPr>
        <p:txBody>
          <a:bodyPr wrap="square" rtlCol="0" anchor="ctr"/>
          <a:lstStyle/>
          <a:p>
            <a:pPr algn="ctr" indent="0" marL="0">
              <a:lnSpc>
                <a:spcPct val="115000"/>
              </a:lnSpc>
              <a:buNone/>
            </a:pPr>
            <a:r>
              <a:rPr lang="en-US" sz="1350" b="1" dirty="0">
                <a:solidFill>
                  <a:srgbClr val="1B1F27"/>
                </a:solidFill>
                <a:latin typeface="Calibri" pitchFamily="34" charset="0"/>
                <a:ea typeface="Calibri" pitchFamily="34" charset="-122"/>
                <a:cs typeface="Calibri" pitchFamily="34" charset="-120"/>
              </a:rPr>
              <a:t>Follow-up email</a:t>
            </a:r>
            <a:endParaRPr lang="en-US" sz="1350" dirty="0"/>
          </a:p>
        </p:txBody>
      </p:sp>
      <p:sp>
        <p:nvSpPr>
          <p:cNvPr id="14" name="Text 12"/>
          <p:cNvSpPr/>
          <p:nvPr/>
        </p:nvSpPr>
        <p:spPr>
          <a:xfrm>
            <a:off x="3526384" y="3383280"/>
            <a:ext cx="2331720" cy="914400"/>
          </a:xfrm>
          <a:prstGeom prst="rect">
            <a:avLst/>
          </a:prstGeom>
          <a:noFill/>
          <a:ln/>
        </p:spPr>
        <p:txBody>
          <a:bodyPr wrap="square" rtlCol="0" anchor="ctr"/>
          <a:lstStyle/>
          <a:p>
            <a:pPr algn="ctr" indent="0" marL="0">
              <a:lnSpc>
                <a:spcPct val="125000"/>
              </a:lnSpc>
              <a:buNone/>
            </a:pPr>
            <a:r>
              <a:rPr lang="en-US" sz="1000" dirty="0">
                <a:solidFill>
                  <a:srgbClr val="5B6472"/>
                </a:solidFill>
                <a:latin typeface="Calibri" pitchFamily="34" charset="0"/>
                <a:ea typeface="Calibri" pitchFamily="34" charset="-122"/>
                <a:cs typeface="Calibri" pitchFamily="34" charset="-120"/>
              </a:rPr>
              <a:t>Meeting summary, questionnaire draft, contact details</a:t>
            </a:r>
            <a:endParaRPr lang="en-US" sz="1000" dirty="0"/>
          </a:p>
        </p:txBody>
      </p:sp>
      <p:sp>
        <p:nvSpPr>
          <p:cNvPr id="15" name="Shape 13"/>
          <p:cNvSpPr/>
          <p:nvPr/>
        </p:nvSpPr>
        <p:spPr>
          <a:xfrm>
            <a:off x="7243420" y="1965960"/>
            <a:ext cx="512064" cy="512064"/>
          </a:xfrm>
          <a:prstGeom prst="ellipse">
            <a:avLst/>
          </a:prstGeom>
          <a:solidFill>
            <a:srgbClr val="1F3864"/>
          </a:solidFill>
          <a:ln/>
        </p:spPr>
      </p:sp>
      <p:sp>
        <p:nvSpPr>
          <p:cNvPr id="16" name="Text 14"/>
          <p:cNvSpPr/>
          <p:nvPr/>
        </p:nvSpPr>
        <p:spPr>
          <a:xfrm>
            <a:off x="7243420" y="1965960"/>
            <a:ext cx="512064" cy="512064"/>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7" name="Text 15"/>
          <p:cNvSpPr/>
          <p:nvPr/>
        </p:nvSpPr>
        <p:spPr>
          <a:xfrm>
            <a:off x="6242152" y="2606040"/>
            <a:ext cx="2514600" cy="274320"/>
          </a:xfrm>
          <a:prstGeom prst="rect">
            <a:avLst/>
          </a:prstGeom>
          <a:noFill/>
          <a:ln/>
        </p:spPr>
        <p:txBody>
          <a:bodyPr wrap="square" rtlCol="0" anchor="ctr"/>
          <a:lstStyle/>
          <a:p>
            <a:pPr algn="ctr" indent="0" marL="0">
              <a:buNone/>
            </a:pPr>
            <a:r>
              <a:rPr lang="en-US" sz="950" b="1" spc="100" kern="0" dirty="0">
                <a:solidFill>
                  <a:srgbClr val="B7862C"/>
                </a:solidFill>
              </a:rPr>
              <a:t>COORDINATED WITH DOST</a:t>
            </a:r>
            <a:endParaRPr lang="en-US" sz="950" dirty="0"/>
          </a:p>
        </p:txBody>
      </p:sp>
      <p:sp>
        <p:nvSpPr>
          <p:cNvPr id="18" name="Text 16"/>
          <p:cNvSpPr/>
          <p:nvPr/>
        </p:nvSpPr>
        <p:spPr>
          <a:xfrm>
            <a:off x="6242152" y="2880360"/>
            <a:ext cx="2514600" cy="502920"/>
          </a:xfrm>
          <a:prstGeom prst="rect">
            <a:avLst/>
          </a:prstGeom>
          <a:noFill/>
          <a:ln/>
        </p:spPr>
        <p:txBody>
          <a:bodyPr wrap="square" rtlCol="0" anchor="ctr"/>
          <a:lstStyle/>
          <a:p>
            <a:pPr algn="ctr" indent="0" marL="0">
              <a:lnSpc>
                <a:spcPct val="115000"/>
              </a:lnSpc>
              <a:buNone/>
            </a:pPr>
            <a:r>
              <a:rPr lang="en-US" sz="1350" b="1" dirty="0">
                <a:solidFill>
                  <a:srgbClr val="1B1F27"/>
                </a:solidFill>
                <a:latin typeface="Calibri" pitchFamily="34" charset="0"/>
                <a:ea typeface="Calibri" pitchFamily="34" charset="-122"/>
                <a:cs typeface="Calibri" pitchFamily="34" charset="-120"/>
              </a:rPr>
              <a:t>Expert validation</a:t>
            </a:r>
            <a:endParaRPr lang="en-US" sz="1350" dirty="0"/>
          </a:p>
        </p:txBody>
      </p:sp>
      <p:sp>
        <p:nvSpPr>
          <p:cNvPr id="19" name="Text 17"/>
          <p:cNvSpPr/>
          <p:nvPr/>
        </p:nvSpPr>
        <p:spPr>
          <a:xfrm>
            <a:off x="6333592" y="3383280"/>
            <a:ext cx="2331720" cy="914400"/>
          </a:xfrm>
          <a:prstGeom prst="rect">
            <a:avLst/>
          </a:prstGeom>
          <a:noFill/>
          <a:ln/>
        </p:spPr>
        <p:txBody>
          <a:bodyPr wrap="square" rtlCol="0" anchor="ctr"/>
          <a:lstStyle/>
          <a:p>
            <a:pPr algn="ctr" indent="0" marL="0">
              <a:lnSpc>
                <a:spcPct val="125000"/>
              </a:lnSpc>
              <a:buNone/>
            </a:pPr>
            <a:r>
              <a:rPr lang="en-US" sz="1000" dirty="0">
                <a:solidFill>
                  <a:srgbClr val="5B6472"/>
                </a:solidFill>
                <a:latin typeface="Calibri" pitchFamily="34" charset="0"/>
                <a:ea typeface="Calibri" pitchFamily="34" charset="-122"/>
                <a:cs typeface="Calibri" pitchFamily="34" charset="-120"/>
              </a:rPr>
              <a:t>Assigned staff verify/label a sample of the training data</a:t>
            </a:r>
            <a:endParaRPr lang="en-US" sz="1000" dirty="0"/>
          </a:p>
        </p:txBody>
      </p:sp>
      <p:sp>
        <p:nvSpPr>
          <p:cNvPr id="20" name="Shape 18"/>
          <p:cNvSpPr/>
          <p:nvPr/>
        </p:nvSpPr>
        <p:spPr>
          <a:xfrm>
            <a:off x="10050628" y="1965960"/>
            <a:ext cx="512064" cy="512064"/>
          </a:xfrm>
          <a:prstGeom prst="ellipse">
            <a:avLst/>
          </a:prstGeom>
          <a:solidFill>
            <a:srgbClr val="B7862C"/>
          </a:solidFill>
          <a:ln/>
        </p:spPr>
      </p:sp>
      <p:sp>
        <p:nvSpPr>
          <p:cNvPr id="21" name="Text 19"/>
          <p:cNvSpPr/>
          <p:nvPr/>
        </p:nvSpPr>
        <p:spPr>
          <a:xfrm>
            <a:off x="10050628" y="1965960"/>
            <a:ext cx="512064" cy="512064"/>
          </a:xfrm>
          <a:prstGeom prst="rect">
            <a:avLst/>
          </a:prstGeom>
          <a:noFill/>
          <a:ln/>
        </p:spPr>
        <p:txBody>
          <a:bodyPr wrap="square"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2" name="Text 20"/>
          <p:cNvSpPr/>
          <p:nvPr/>
        </p:nvSpPr>
        <p:spPr>
          <a:xfrm>
            <a:off x="9049360" y="2606040"/>
            <a:ext cx="2514600" cy="274320"/>
          </a:xfrm>
          <a:prstGeom prst="rect">
            <a:avLst/>
          </a:prstGeom>
          <a:noFill/>
          <a:ln/>
        </p:spPr>
        <p:txBody>
          <a:bodyPr wrap="square" rtlCol="0" anchor="ctr"/>
          <a:lstStyle/>
          <a:p>
            <a:pPr algn="ctr" indent="0" marL="0">
              <a:buNone/>
            </a:pPr>
            <a:r>
              <a:rPr lang="en-US" sz="950" b="1" spc="100" kern="0" dirty="0">
                <a:solidFill>
                  <a:srgbClr val="B7862C"/>
                </a:solidFill>
              </a:rPr>
              <a:t>BEFORE DEFENSE</a:t>
            </a:r>
            <a:endParaRPr lang="en-US" sz="950" dirty="0"/>
          </a:p>
        </p:txBody>
      </p:sp>
      <p:sp>
        <p:nvSpPr>
          <p:cNvPr id="23" name="Text 21"/>
          <p:cNvSpPr/>
          <p:nvPr/>
        </p:nvSpPr>
        <p:spPr>
          <a:xfrm>
            <a:off x="9049360" y="2880360"/>
            <a:ext cx="2514600" cy="502920"/>
          </a:xfrm>
          <a:prstGeom prst="rect">
            <a:avLst/>
          </a:prstGeom>
          <a:noFill/>
          <a:ln/>
        </p:spPr>
        <p:txBody>
          <a:bodyPr wrap="square" rtlCol="0" anchor="ctr"/>
          <a:lstStyle/>
          <a:p>
            <a:pPr algn="ctr" indent="0" marL="0">
              <a:lnSpc>
                <a:spcPct val="115000"/>
              </a:lnSpc>
              <a:buNone/>
            </a:pPr>
            <a:r>
              <a:rPr lang="en-US" sz="1350" b="1" dirty="0">
                <a:solidFill>
                  <a:srgbClr val="1B1F27"/>
                </a:solidFill>
                <a:latin typeface="Calibri" pitchFamily="34" charset="0"/>
                <a:ea typeface="Calibri" pitchFamily="34" charset="-122"/>
                <a:cs typeface="Calibri" pitchFamily="34" charset="-120"/>
              </a:rPr>
              <a:t>Post-testing round</a:t>
            </a:r>
            <a:endParaRPr lang="en-US" sz="1350" dirty="0"/>
          </a:p>
        </p:txBody>
      </p:sp>
      <p:sp>
        <p:nvSpPr>
          <p:cNvPr id="24" name="Text 22"/>
          <p:cNvSpPr/>
          <p:nvPr/>
        </p:nvSpPr>
        <p:spPr>
          <a:xfrm>
            <a:off x="9140800" y="3383280"/>
            <a:ext cx="2331720" cy="914400"/>
          </a:xfrm>
          <a:prstGeom prst="rect">
            <a:avLst/>
          </a:prstGeom>
          <a:noFill/>
          <a:ln/>
        </p:spPr>
        <p:txBody>
          <a:bodyPr wrap="square" rtlCol="0" anchor="ctr"/>
          <a:lstStyle/>
          <a:p>
            <a:pPr algn="ctr" indent="0" marL="0">
              <a:lnSpc>
                <a:spcPct val="125000"/>
              </a:lnSpc>
              <a:buNone/>
            </a:pPr>
            <a:r>
              <a:rPr lang="en-US" sz="1000" dirty="0">
                <a:solidFill>
                  <a:srgbClr val="5B6472"/>
                </a:solidFill>
                <a:latin typeface="Calibri" pitchFamily="34" charset="0"/>
                <a:ea typeface="Calibri" pitchFamily="34" charset="-122"/>
                <a:cs typeface="Calibri" pitchFamily="34" charset="-120"/>
              </a:rPr>
              <a:t>30 DOST + 20 public respondents complete the final form</a:t>
            </a:r>
            <a:endParaRPr lang="en-US" sz="1000" dirty="0"/>
          </a:p>
        </p:txBody>
      </p:sp>
      <p:sp>
        <p:nvSpPr>
          <p:cNvPr id="25" name="Shape 23"/>
          <p:cNvSpPr/>
          <p:nvPr/>
        </p:nvSpPr>
        <p:spPr>
          <a:xfrm>
            <a:off x="640080" y="4709160"/>
            <a:ext cx="10881360" cy="777240"/>
          </a:xfrm>
          <a:prstGeom prst="roundRect">
            <a:avLst>
              <a:gd name="adj" fmla="val 9412"/>
            </a:avLst>
          </a:prstGeom>
          <a:solidFill>
            <a:srgbClr val="F5F7FA"/>
          </a:solidFill>
          <a:ln/>
        </p:spPr>
      </p:sp>
      <p:sp>
        <p:nvSpPr>
          <p:cNvPr id="26" name="Text 24"/>
          <p:cNvSpPr/>
          <p:nvPr/>
        </p:nvSpPr>
        <p:spPr>
          <a:xfrm>
            <a:off x="868680" y="4709160"/>
            <a:ext cx="1920240" cy="777240"/>
          </a:xfrm>
          <a:prstGeom prst="rect">
            <a:avLst/>
          </a:prstGeom>
          <a:noFill/>
          <a:ln/>
        </p:spPr>
        <p:txBody>
          <a:bodyPr wrap="square" rtlCol="0" anchor="ctr"/>
          <a:lstStyle/>
          <a:p>
            <a:pPr indent="0" marL="0">
              <a:buNone/>
            </a:pPr>
            <a:r>
              <a:rPr lang="en-US" sz="1150" b="1" dirty="0">
                <a:solidFill>
                  <a:srgbClr val="1F3864"/>
                </a:solidFill>
                <a:latin typeface="Calibri" pitchFamily="34" charset="0"/>
                <a:ea typeface="Calibri" pitchFamily="34" charset="-122"/>
                <a:cs typeface="Calibri" pitchFamily="34" charset="-120"/>
              </a:rPr>
              <a:t>Recap — the 3 asks:  </a:t>
            </a:r>
            <a:endParaRPr lang="en-US" sz="1150" dirty="0"/>
          </a:p>
        </p:txBody>
      </p:sp>
      <p:sp>
        <p:nvSpPr>
          <p:cNvPr id="27" name="Text 25"/>
          <p:cNvSpPr/>
          <p:nvPr/>
        </p:nvSpPr>
        <p:spPr>
          <a:xfrm>
            <a:off x="2743200" y="4709160"/>
            <a:ext cx="8595360" cy="777240"/>
          </a:xfrm>
          <a:prstGeom prst="rect">
            <a:avLst/>
          </a:prstGeom>
          <a:noFill/>
          <a:ln/>
        </p:spPr>
        <p:txBody>
          <a:bodyPr wrap="square" rtlCol="0" anchor="ctr"/>
          <a:lstStyle/>
          <a:p>
            <a:pPr indent="0" marL="0">
              <a:buNone/>
            </a:pPr>
            <a:r>
              <a:rPr lang="en-US" sz="1150" dirty="0">
                <a:solidFill>
                  <a:srgbClr val="1B1F27"/>
                </a:solidFill>
                <a:latin typeface="Calibri" pitchFamily="34" charset="0"/>
                <a:ea typeface="Calibri" pitchFamily="34" charset="-122"/>
                <a:cs typeface="Calibri" pitchFamily="34" charset="-120"/>
              </a:rPr>
              <a:t>① Validation partnership     ② ~30 post-testing evaluators     ③ Expert validator for the dataset</a:t>
            </a:r>
            <a:endParaRPr lang="en-US" sz="1150" dirty="0"/>
          </a:p>
        </p:txBody>
      </p:sp>
      <p:sp>
        <p:nvSpPr>
          <p:cNvPr id="28" name="Text 26"/>
          <p:cNvSpPr/>
          <p:nvPr/>
        </p:nvSpPr>
        <p:spPr>
          <a:xfrm>
            <a:off x="457200" y="6473952"/>
            <a:ext cx="7315200" cy="274320"/>
          </a:xfrm>
          <a:prstGeom prst="rect">
            <a:avLst/>
          </a:prstGeom>
          <a:noFill/>
          <a:ln/>
        </p:spPr>
        <p:txBody>
          <a:bodyPr wrap="square"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aiPHeed — DOST Region IV-A Meeting Kit</a:t>
            </a:r>
            <a:endParaRPr lang="en-US" sz="1000" dirty="0"/>
          </a:p>
        </p:txBody>
      </p:sp>
      <p:sp>
        <p:nvSpPr>
          <p:cNvPr id="29" name="Text 27"/>
          <p:cNvSpPr/>
          <p:nvPr/>
        </p:nvSpPr>
        <p:spPr>
          <a:xfrm>
            <a:off x="9905695" y="6473952"/>
            <a:ext cx="1828800" cy="274320"/>
          </a:xfrm>
          <a:prstGeom prst="rect">
            <a:avLst/>
          </a:prstGeom>
          <a:noFill/>
          <a:ln/>
        </p:spPr>
        <p:txBody>
          <a:bodyPr wrap="square" rtlCol="0" anchor="ctr"/>
          <a:lstStyle/>
          <a:p>
            <a:pPr algn="r" indent="0" marL="0">
              <a:buNone/>
            </a:pPr>
            <a:r>
              <a:rPr lang="en-US" sz="1000" b="1" dirty="0">
                <a:solidFill>
                  <a:srgbClr val="5B6472"/>
                </a:solidFill>
                <a:latin typeface="Calibri" pitchFamily="34" charset="0"/>
                <a:ea typeface="Calibri" pitchFamily="34" charset="-122"/>
                <a:cs typeface="Calibri" pitchFamily="34" charset="-120"/>
              </a:rPr>
              <a:t>aiPHeed</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F3864"/>
        </a:solidFill>
      </p:bgPr>
    </p:bg>
    <p:spTree>
      <p:nvGrpSpPr>
        <p:cNvPr id="1" name=""/>
        <p:cNvGrpSpPr/>
        <p:nvPr/>
      </p:nvGrpSpPr>
      <p:grpSpPr>
        <a:xfrm>
          <a:off x="0" y="0"/>
          <a:ext cx="0" cy="0"/>
          <a:chOff x="0" y="0"/>
          <a:chExt cx="0" cy="0"/>
        </a:xfrm>
      </p:grpSpPr>
      <p:sp>
        <p:nvSpPr>
          <p:cNvPr id="2" name="Shape 0"/>
          <p:cNvSpPr/>
          <p:nvPr/>
        </p:nvSpPr>
        <p:spPr>
          <a:xfrm>
            <a:off x="8686800" y="-2286000"/>
            <a:ext cx="5943600" cy="5943600"/>
          </a:xfrm>
          <a:prstGeom prst="ellipse">
            <a:avLst/>
          </a:prstGeom>
          <a:solidFill>
            <a:srgbClr val="16294A"/>
          </a:solidFill>
          <a:ln/>
        </p:spPr>
      </p:sp>
      <p:sp>
        <p:nvSpPr>
          <p:cNvPr id="3" name="Shape 1"/>
          <p:cNvSpPr/>
          <p:nvPr/>
        </p:nvSpPr>
        <p:spPr>
          <a:xfrm>
            <a:off x="-1645920" y="4754880"/>
            <a:ext cx="3840480" cy="3840480"/>
          </a:xfrm>
          <a:prstGeom prst="ellipse">
            <a:avLst/>
          </a:prstGeom>
          <a:solidFill>
            <a:srgbClr val="0F7B6C">
              <a:alpha val="20000"/>
            </a:srgbClr>
          </a:solidFill>
          <a:ln/>
        </p:spPr>
      </p:sp>
      <p:sp>
        <p:nvSpPr>
          <p:cNvPr id="4" name="Shape 2"/>
          <p:cNvSpPr/>
          <p:nvPr/>
        </p:nvSpPr>
        <p:spPr>
          <a:xfrm>
            <a:off x="5592928" y="1051560"/>
            <a:ext cx="1005840" cy="1005840"/>
          </a:xfrm>
          <a:prstGeom prst="ellipse">
            <a:avLst/>
          </a:prstGeom>
          <a:solidFill>
            <a:srgbClr val="0F7B6C"/>
          </a:solidFill>
          <a:ln/>
        </p:spPr>
      </p:sp>
      <p:pic>
        <p:nvPicPr>
          <p:cNvPr id="5" name="Image 0" descr="/tmp/aipheed_pptx/icons/messageSquareQuestion.png">    </p:cNvPr>
          <p:cNvPicPr>
            <a:picLocks noChangeAspect="1"/>
          </p:cNvPicPr>
          <p:nvPr/>
        </p:nvPicPr>
        <p:blipFill>
          <a:blip r:embed="rId1"/>
          <a:stretch>
            <a:fillRect/>
          </a:stretch>
        </p:blipFill>
        <p:spPr>
          <a:xfrm>
            <a:off x="5812384" y="1271016"/>
            <a:ext cx="566928" cy="566928"/>
          </a:xfrm>
          <a:prstGeom prst="rect">
            <a:avLst/>
          </a:prstGeom>
        </p:spPr>
      </p:pic>
      <p:sp>
        <p:nvSpPr>
          <p:cNvPr id="6" name="Text 3"/>
          <p:cNvSpPr/>
          <p:nvPr/>
        </p:nvSpPr>
        <p:spPr>
          <a:xfrm>
            <a:off x="0" y="2286000"/>
            <a:ext cx="12191695" cy="822960"/>
          </a:xfrm>
          <a:prstGeom prst="rect">
            <a:avLst/>
          </a:prstGeom>
          <a:noFill/>
          <a:ln/>
        </p:spPr>
        <p:txBody>
          <a:bodyPr wrap="square" rtlCol="0" anchor="ctr"/>
          <a:lstStyle/>
          <a:p>
            <a:pPr algn="ctr" indent="0" marL="0">
              <a:buNone/>
            </a:pPr>
            <a:r>
              <a:rPr lang="en-US" sz="3400" b="1" dirty="0">
                <a:solidFill>
                  <a:srgbClr val="FFFFFF"/>
                </a:solidFill>
                <a:latin typeface="Cambria" pitchFamily="34" charset="0"/>
                <a:ea typeface="Cambria" pitchFamily="34" charset="-122"/>
                <a:cs typeface="Cambria" pitchFamily="34" charset="-120"/>
              </a:rPr>
              <a:t>Salamat po! Maraming salamat sa oras.</a:t>
            </a:r>
            <a:endParaRPr lang="en-US" sz="3400" dirty="0"/>
          </a:p>
        </p:txBody>
      </p:sp>
      <p:sp>
        <p:nvSpPr>
          <p:cNvPr id="7" name="Text 4"/>
          <p:cNvSpPr/>
          <p:nvPr/>
        </p:nvSpPr>
        <p:spPr>
          <a:xfrm>
            <a:off x="0" y="3017520"/>
            <a:ext cx="12191695" cy="45720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Open forum — questions, feedback, and clarifications welcome</a:t>
            </a:r>
            <a:endParaRPr lang="en-US" sz="1600" dirty="0"/>
          </a:p>
        </p:txBody>
      </p:sp>
      <p:pic>
        <p:nvPicPr>
          <p:cNvPr id="8" name="Image 1" descr="/tmp/aipheed_pptx/icons/destura_sq.png">    </p:cNvPr>
          <p:cNvPicPr>
            <a:picLocks noChangeAspect="1"/>
          </p:cNvPicPr>
          <p:nvPr/>
        </p:nvPicPr>
        <p:blipFill>
          <a:blip r:embed="rId2"/>
          <a:stretch>
            <a:fillRect/>
          </a:stretch>
        </p:blipFill>
        <p:spPr>
          <a:xfrm>
            <a:off x="3832708" y="3977640"/>
            <a:ext cx="1051560" cy="1051560"/>
          </a:xfrm>
          <a:prstGeom prst="ellipse">
            <a:avLst/>
          </a:prstGeom>
        </p:spPr>
      </p:pic>
      <p:sp>
        <p:nvSpPr>
          <p:cNvPr id="9" name="Text 5"/>
          <p:cNvSpPr/>
          <p:nvPr/>
        </p:nvSpPr>
        <p:spPr>
          <a:xfrm>
            <a:off x="3375508" y="5120640"/>
            <a:ext cx="1965960" cy="502920"/>
          </a:xfrm>
          <a:prstGeom prst="rect">
            <a:avLst/>
          </a:prstGeom>
          <a:noFill/>
          <a:ln/>
        </p:spPr>
        <p:txBody>
          <a:bodyPr wrap="square" rtlCol="0" anchor="ctr"/>
          <a:lstStyle/>
          <a:p>
            <a:pPr algn="ctr" indent="0" marL="0">
              <a:lnSpc>
                <a:spcPct val="115000"/>
              </a:lnSpc>
              <a:buNone/>
            </a:pPr>
            <a:r>
              <a:rPr lang="en-US" sz="1150" b="1" dirty="0">
                <a:solidFill>
                  <a:srgbClr val="FFFFFF"/>
                </a:solidFill>
                <a:latin typeface="Calibri" pitchFamily="34" charset="0"/>
                <a:ea typeface="Calibri" pitchFamily="34" charset="-122"/>
                <a:cs typeface="Calibri" pitchFamily="34" charset="-120"/>
              </a:rPr>
              <a:t>Princess Gwenn A. Destura</a:t>
            </a:r>
            <a:endParaRPr lang="en-US" sz="1150" dirty="0"/>
          </a:p>
        </p:txBody>
      </p:sp>
      <p:pic>
        <p:nvPicPr>
          <p:cNvPr id="10" name="Image 2" descr="/tmp/aipheed_pptx/icons/esico_sq.png">    </p:cNvPr>
          <p:cNvPicPr>
            <a:picLocks noChangeAspect="1"/>
          </p:cNvPicPr>
          <p:nvPr/>
        </p:nvPicPr>
        <p:blipFill>
          <a:blip r:embed="rId3"/>
          <a:stretch>
            <a:fillRect/>
          </a:stretch>
        </p:blipFill>
        <p:spPr>
          <a:xfrm>
            <a:off x="5570068" y="3977640"/>
            <a:ext cx="1051560" cy="1051560"/>
          </a:xfrm>
          <a:prstGeom prst="ellipse">
            <a:avLst/>
          </a:prstGeom>
        </p:spPr>
      </p:pic>
      <p:sp>
        <p:nvSpPr>
          <p:cNvPr id="11" name="Text 6"/>
          <p:cNvSpPr/>
          <p:nvPr/>
        </p:nvSpPr>
        <p:spPr>
          <a:xfrm>
            <a:off x="5112868" y="5120640"/>
            <a:ext cx="1965960" cy="502920"/>
          </a:xfrm>
          <a:prstGeom prst="rect">
            <a:avLst/>
          </a:prstGeom>
          <a:noFill/>
          <a:ln/>
        </p:spPr>
        <p:txBody>
          <a:bodyPr wrap="square" rtlCol="0" anchor="ctr"/>
          <a:lstStyle/>
          <a:p>
            <a:pPr algn="ctr" indent="0" marL="0">
              <a:lnSpc>
                <a:spcPct val="115000"/>
              </a:lnSpc>
              <a:buNone/>
            </a:pPr>
            <a:r>
              <a:rPr lang="en-US" sz="1150" b="1" dirty="0">
                <a:solidFill>
                  <a:srgbClr val="FFFFFF"/>
                </a:solidFill>
                <a:latin typeface="Calibri" pitchFamily="34" charset="0"/>
                <a:ea typeface="Calibri" pitchFamily="34" charset="-122"/>
                <a:cs typeface="Calibri" pitchFamily="34" charset="-120"/>
              </a:rPr>
              <a:t>Christina M. Esico</a:t>
            </a:r>
            <a:endParaRPr lang="en-US" sz="1150" dirty="0"/>
          </a:p>
        </p:txBody>
      </p:sp>
      <p:pic>
        <p:nvPicPr>
          <p:cNvPr id="12" name="Image 3" descr="/tmp/aipheed_pptx/icons/melindo_sq.png">    </p:cNvPr>
          <p:cNvPicPr>
            <a:picLocks noChangeAspect="1"/>
          </p:cNvPicPr>
          <p:nvPr/>
        </p:nvPicPr>
        <p:blipFill>
          <a:blip r:embed="rId4"/>
          <a:stretch>
            <a:fillRect/>
          </a:stretch>
        </p:blipFill>
        <p:spPr>
          <a:xfrm>
            <a:off x="7307428" y="3977640"/>
            <a:ext cx="1051560" cy="1051560"/>
          </a:xfrm>
          <a:prstGeom prst="ellipse">
            <a:avLst/>
          </a:prstGeom>
        </p:spPr>
      </p:pic>
      <p:sp>
        <p:nvSpPr>
          <p:cNvPr id="13" name="Text 7"/>
          <p:cNvSpPr/>
          <p:nvPr/>
        </p:nvSpPr>
        <p:spPr>
          <a:xfrm>
            <a:off x="6850228" y="5120640"/>
            <a:ext cx="1965960" cy="502920"/>
          </a:xfrm>
          <a:prstGeom prst="rect">
            <a:avLst/>
          </a:prstGeom>
          <a:noFill/>
          <a:ln/>
        </p:spPr>
        <p:txBody>
          <a:bodyPr wrap="square" rtlCol="0" anchor="ctr"/>
          <a:lstStyle/>
          <a:p>
            <a:pPr algn="ctr" indent="0" marL="0">
              <a:lnSpc>
                <a:spcPct val="115000"/>
              </a:lnSpc>
              <a:buNone/>
            </a:pPr>
            <a:r>
              <a:rPr lang="en-US" sz="1150" b="1" dirty="0">
                <a:solidFill>
                  <a:srgbClr val="FFFFFF"/>
                </a:solidFill>
                <a:latin typeface="Calibri" pitchFamily="34" charset="0"/>
                <a:ea typeface="Calibri" pitchFamily="34" charset="-122"/>
                <a:cs typeface="Calibri" pitchFamily="34" charset="-120"/>
              </a:rPr>
              <a:t>Angel Vhea P. Melindo</a:t>
            </a:r>
            <a:endParaRPr lang="en-US" sz="1150" dirty="0"/>
          </a:p>
        </p:txBody>
      </p:sp>
      <p:sp>
        <p:nvSpPr>
          <p:cNvPr id="14" name="Text 8"/>
          <p:cNvSpPr/>
          <p:nvPr/>
        </p:nvSpPr>
        <p:spPr>
          <a:xfrm>
            <a:off x="0" y="6263640"/>
            <a:ext cx="12191695" cy="320040"/>
          </a:xfrm>
          <a:prstGeom prst="rect">
            <a:avLst/>
          </a:prstGeom>
          <a:noFill/>
          <a:ln/>
        </p:spPr>
        <p:txBody>
          <a:bodyPr wrap="square" rtlCol="0" anchor="ctr"/>
          <a:lstStyle/>
          <a:p>
            <a:pPr algn="ctr" indent="0" marL="0">
              <a:buNone/>
            </a:pPr>
            <a:r>
              <a:rPr lang="en-US" sz="1050" dirty="0">
                <a:solidFill>
                  <a:srgbClr val="8FA0C2"/>
                </a:solidFill>
                <a:latin typeface="Calibri" pitchFamily="34" charset="0"/>
                <a:ea typeface="Calibri" pitchFamily="34" charset="-122"/>
                <a:cs typeface="Calibri" pitchFamily="34" charset="-120"/>
              </a:rPr>
              <a:t>BS Computer Science (Intelligence Systems) · De La Salle University–Dasmariñas · Adviser: Dr. Rolando B. Barrameda</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2026-08-20T00:58:45Z</dcterms:created>
  <dcterms:modified xsi:type="dcterms:W3CDTF">2026-08-20T00:58:45Z</dcterms:modified>
</cp:coreProperties>
</file>